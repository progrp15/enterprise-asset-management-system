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ac83d900b48a9" /><Relationship Type="http://schemas.openxmlformats.org/officeDocument/2006/relationships/extended-properties" Target="/docProps/app.xml" Id="R803553108c5e4168" /><Relationship Type="http://schemas.openxmlformats.org/officeDocument/2006/relationships/officeDocument" Target="/ppt/presentation.xml" Id="R7417748fa51342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a07f96ed934fe7"/>
  </p:sldMasterIdLst>
  <p:notesMasterIdLst>
    <p:notesMasterId xmlns:r="http://schemas.openxmlformats.org/officeDocument/2006/relationships" r:id="Rd83015c2ccdf4c7a"/>
  </p:notesMasterIdLst>
  <p:sldIdLst>
    <p:sldId xmlns:r="http://schemas.openxmlformats.org/officeDocument/2006/relationships" id="256" r:id="Rac26b34630884648"/>
    <p:sldId xmlns:r="http://schemas.openxmlformats.org/officeDocument/2006/relationships" id="257" r:id="Rd8b3fd9db5ac40c6"/>
    <p:sldId xmlns:r="http://schemas.openxmlformats.org/officeDocument/2006/relationships" id="258" r:id="R384f252ab5aa446e"/>
    <p:sldId xmlns:r="http://schemas.openxmlformats.org/officeDocument/2006/relationships" id="259" r:id="Ra805e890ec8847c9"/>
    <p:sldId xmlns:r="http://schemas.openxmlformats.org/officeDocument/2006/relationships" id="260" r:id="R9ffdc330499343ba"/>
    <p:sldId xmlns:r="http://schemas.openxmlformats.org/officeDocument/2006/relationships" id="261" r:id="R321bb7ce43994bbc"/>
    <p:sldId xmlns:r="http://schemas.openxmlformats.org/officeDocument/2006/relationships" id="262" r:id="R14a57c71b4784767"/>
    <p:sldId xmlns:r="http://schemas.openxmlformats.org/officeDocument/2006/relationships" id="263" r:id="R2bc8ea3233f04bde"/>
    <p:sldId xmlns:r="http://schemas.openxmlformats.org/officeDocument/2006/relationships" id="264" r:id="R1cff397fa2a74e0b"/>
    <p:sldId xmlns:r="http://schemas.openxmlformats.org/officeDocument/2006/relationships" id="265" r:id="Rb5ed1ec6479341c4"/>
    <p:sldId xmlns:r="http://schemas.openxmlformats.org/officeDocument/2006/relationships" id="266" r:id="R6aa8c122cd6e4d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5e8cb740c457d" /><Relationship Type="http://schemas.openxmlformats.org/officeDocument/2006/relationships/slideMaster" Target="/ppt/slideMasters/slideMaster1.xml" Id="R6ea07f96ed934fe7" /><Relationship Type="http://schemas.openxmlformats.org/officeDocument/2006/relationships/notesMaster" Target="/ppt/notesMasters/notesMaster1.xml" Id="Rd83015c2ccdf4c7a" /><Relationship Type="http://schemas.openxmlformats.org/officeDocument/2006/relationships/presProps" Target="/ppt/presProps.xml" Id="Rf1a3c7747d144f17" /><Relationship Type="http://schemas.openxmlformats.org/officeDocument/2006/relationships/tableStyles" Target="/ppt/tableStyles.xml" Id="Rf12267abf3d4401d" /><Relationship Type="http://schemas.openxmlformats.org/officeDocument/2006/relationships/slide" Target="/ppt/slides/slide1.xml" Id="Rac26b34630884648" /><Relationship Type="http://schemas.openxmlformats.org/officeDocument/2006/relationships/slide" Target="/ppt/slides/slide2.xml" Id="Rd8b3fd9db5ac40c6" /><Relationship Type="http://schemas.openxmlformats.org/officeDocument/2006/relationships/slide" Target="/ppt/slides/slide3.xml" Id="R384f252ab5aa446e" /><Relationship Type="http://schemas.openxmlformats.org/officeDocument/2006/relationships/slide" Target="/ppt/slides/slide4.xml" Id="Ra805e890ec8847c9" /><Relationship Type="http://schemas.openxmlformats.org/officeDocument/2006/relationships/slide" Target="/ppt/slides/slide5.xml" Id="R9ffdc330499343ba" /><Relationship Type="http://schemas.openxmlformats.org/officeDocument/2006/relationships/slide" Target="/ppt/slides/slide6.xml" Id="R321bb7ce43994bbc" /><Relationship Type="http://schemas.openxmlformats.org/officeDocument/2006/relationships/slide" Target="/ppt/slides/slide7.xml" Id="R14a57c71b4784767" /><Relationship Type="http://schemas.openxmlformats.org/officeDocument/2006/relationships/slide" Target="/ppt/slides/slide8.xml" Id="R2bc8ea3233f04bde" /><Relationship Type="http://schemas.openxmlformats.org/officeDocument/2006/relationships/slide" Target="/ppt/slides/slide9.xml" Id="R1cff397fa2a74e0b" /><Relationship Type="http://schemas.openxmlformats.org/officeDocument/2006/relationships/slide" Target="/ppt/slides/slide10.xml" Id="Rb5ed1ec6479341c4" /><Relationship Type="http://schemas.openxmlformats.org/officeDocument/2006/relationships/slide" Target="/ppt/slides/slide11.xml" Id="R6aa8c122cd6e4d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1cbef7b0e4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d131f5d6d74137" /><Relationship Type="http://schemas.openxmlformats.org/officeDocument/2006/relationships/notesMaster" Target="/ppt/notesMasters/notesMaster1.xml" Id="R3e9c30f0d89a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11c459fd224fd9" /><Relationship Type="http://schemas.openxmlformats.org/officeDocument/2006/relationships/notesMaster" Target="/ppt/notesMasters/notesMaster1.xml" Id="Rcfc84bfb2e9a46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1d3c0af6774563" /><Relationship Type="http://schemas.openxmlformats.org/officeDocument/2006/relationships/notesMaster" Target="/ppt/notesMasters/notesMaster1.xml" Id="R39a09bbfd63a42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4fba70c9ef4904" /><Relationship Type="http://schemas.openxmlformats.org/officeDocument/2006/relationships/notesMaster" Target="/ppt/notesMasters/notesMaster1.xml" Id="Rda60c80701c946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9a43d5e3b84940" /><Relationship Type="http://schemas.openxmlformats.org/officeDocument/2006/relationships/notesMaster" Target="/ppt/notesMasters/notesMaster1.xml" Id="Re5276e4d4b6045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1c9f66e9fe471b" /><Relationship Type="http://schemas.openxmlformats.org/officeDocument/2006/relationships/notesMaster" Target="/ppt/notesMasters/notesMaster1.xml" Id="Rcaf80e664aa74e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e2e56f81e04bc1" /><Relationship Type="http://schemas.openxmlformats.org/officeDocument/2006/relationships/notesMaster" Target="/ppt/notesMasters/notesMaster1.xml" Id="R8ca941a7ba094d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eb3fde509345c9" /><Relationship Type="http://schemas.openxmlformats.org/officeDocument/2006/relationships/notesMaster" Target="/ppt/notesMasters/notesMaster1.xml" Id="R97b3dc6fc62541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0c68de776c44b1" /><Relationship Type="http://schemas.openxmlformats.org/officeDocument/2006/relationships/notesMaster" Target="/ppt/notesMasters/notesMaster1.xml" Id="Ra8e93f489a474e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7ec035bb814bb5" /><Relationship Type="http://schemas.openxmlformats.org/officeDocument/2006/relationships/notesMaster" Target="/ppt/notesMasters/notesMaster1.xml" Id="R9cb2f73ffbcf4b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9424a3f8c646df" /><Relationship Type="http://schemas.openxmlformats.org/officeDocument/2006/relationships/notesMaster" Target="/ppt/notesMasters/notesMaster1.xml" Id="Rb3fdee0d0af04f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>Opening: AssetFlow connects the people, assets, and decisions that keep an enterprise moving.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 repository: local project README, source code, configuration, and package manifests.</a:t>
            </a:r>
          </a:p>
          <a:p xmlns:a="http://schemas.openxmlformats.org/drawingml/2006/main">
            <a:r>
              <a:t>- User-provided reference images: D:/Downloads/project ppt/*.jpeg (used as visual direction only).</a:t>
            </a:r>
          </a:p>
          <a:p xmlns:a="http://schemas.openxmlformats.org/drawingml/2006/main">
            <a:r>
              <a:t>Close: the workflow is the product — AssetFlow makes it visible, secure, and repeatable.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140639cef44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39966d7c0e47a7" /><Relationship Type="http://schemas.openxmlformats.org/officeDocument/2006/relationships/slideLayout" Target="/ppt/slideLayouts/slideLayout1.xml" Id="R5e3dfe64d71b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dfe64d71b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33f1f6d3e4344" /><Relationship Type="http://schemas.openxmlformats.org/officeDocument/2006/relationships/notesSlide" Target="/ppt/notesSlides/notesSlide1.xml" Id="R1d19d14cbc79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3cfc1e6684e8c" /><Relationship Type="http://schemas.openxmlformats.org/officeDocument/2006/relationships/notesSlide" Target="/ppt/notesSlides/notesSlide2.xml" Id="Ref14176776b344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3e418dcfb4dde" /><Relationship Type="http://schemas.openxmlformats.org/officeDocument/2006/relationships/notesSlide" Target="/ppt/notesSlides/notesSlide3.xml" Id="Rf184f2f20a0c41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d933207664cb8" /><Relationship Type="http://schemas.openxmlformats.org/officeDocument/2006/relationships/notesSlide" Target="/ppt/notesSlides/notesSlide4.xml" Id="Rf68c42f0b27d4b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8534ce6094c91" /><Relationship Type="http://schemas.openxmlformats.org/officeDocument/2006/relationships/notesSlide" Target="/ppt/notesSlides/notesSlide5.xml" Id="R5d2dc98c9abe46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4ece00cef4337" /><Relationship Type="http://schemas.openxmlformats.org/officeDocument/2006/relationships/notesSlide" Target="/ppt/notesSlides/notesSlide6.xml" Id="R62294c0f2a0743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71481523347b8" /><Relationship Type="http://schemas.openxmlformats.org/officeDocument/2006/relationships/notesSlide" Target="/ppt/notesSlides/notesSlide7.xml" Id="Rf605602114ba40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2e89f035a4caa" /><Relationship Type="http://schemas.openxmlformats.org/officeDocument/2006/relationships/notesSlide" Target="/ppt/notesSlides/notesSlide8.xml" Id="R4438ca1ffdc2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a3b9a2b142c0" /><Relationship Type="http://schemas.openxmlformats.org/officeDocument/2006/relationships/notesSlide" Target="/ppt/notesSlides/notesSlide9.xml" Id="R065c8841aeeb48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0eb60efc84ec6" /><Relationship Type="http://schemas.openxmlformats.org/officeDocument/2006/relationships/notesSlide" Target="/ppt/notesSlides/notesSlide10.xml" Id="R5a2f34bff17547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e9e1995824aee" /><Relationship Type="http://schemas.openxmlformats.org/officeDocument/2006/relationships/notesSlide" Target="/ppt/notesSlides/notesSlide11.xml" Id="R27eb5057761f4e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AEAA1-6A89-4181-A586-8A468760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KNOW-IT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3F53F-379B-4E7D-9751-0A49957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ASSETFLOW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DED3F-3102-41A2-A750-9DBEB21B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Enterprise asset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management, in motion.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9AEE0-9E72-40D7-8885-44BCB80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8E7EC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D8E7EC"/>
                </a:solidFill>
                <a:latin typeface="Aptos"/>
                <a:ea typeface="Aptos"/>
                <a:cs typeface="Aptos"/>
              </a:rPr>
              <a:t>A SaaS working flow from company onboarding to asset lifecycle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52CF2-1328-46D2-990F-5FAF324B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81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11430">
            <a:solidFill>
              <a:srgbClr val="3B66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98398-801C-4DEF-A8B3-DD697E69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Project review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9322A-CF56-4A4F-A97C-29AB7D8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Working flow · architecture · roles · delivery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DF9EF-EB29-4399-9E38-1649C3EC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93FD2-F303-46EA-846F-17FB9B4E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7A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C0312-07FB-4133-8527-39E1AF06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146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D3215-310A-4D29-B9E9-035FA84F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ONE PLATFORM</a:t>
            </a:r>
          </a:p>
          <a:p xmlns:a="http://schemas.openxmlformats.org/drawingml/2006/main">
            <a:pPr algn="ctr">
              <a:defRPr sz="12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MANY WORKSPACES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0E56E-FB52-4638-9268-653BBE30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FC4CF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AFC4CF"/>
                </a:solidFill>
                <a:latin typeface="Aptos"/>
                <a:ea typeface="Aptos"/>
                <a:cs typeface="Aptos"/>
              </a:rPr>
              <a:t>08 / 2026</a:t>
            </a:r>
          </a:p>
        </p:txBody>
      </p:sp>
    </p:spTree>
    <p:extLst>
      <p:ext uri="{BB962C8B-B14F-4D97-AF65-F5344CB8AC3E}">
        <p14:creationId xmlns:p14="http://schemas.microsoft.com/office/powerpoint/2010/main" val="1051070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CAF93-95D5-4DA9-B27A-819CD800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01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98BE6-7EEF-4DD1-978E-73248E6E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AssetFlow turns asset tracking into an accountable operating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A101A-0893-4091-A23B-7CC96E8C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The platform connects procurement, people, assets, maintenance, and insight in one tenant-aware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A6774-C7DA-495F-98C5-3A55A999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4767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EFCC6-59EF-4D5D-8396-0436265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business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820D3-8FDC-410B-9AD3-CF5E7026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84B6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84B63"/>
                </a:solidFill>
                <a:latin typeface="Aptos"/>
                <a:ea typeface="Aptos"/>
                <a:cs typeface="Aptos"/>
              </a:rPr>
              <a:t>Enterprise assets are easy to lose in spreadsheets, inboxes, and disconnected approvals.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96FC4-8D65-4BB3-AB11-0A8D3920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creates a shared system of record with role-based access, auditability, and lifecycle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30E7-EFA4-4DFD-B320-29C8B007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Target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E8791-D902-44C3-BD65-7A8D15A2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7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7A8A"/>
                </a:solidFill>
                <a:latin typeface="Aptos"/>
                <a:ea typeface="Aptos"/>
                <a:cs typeface="Aptos"/>
              </a:rPr>
              <a:t>Super Admin  ·  Company Admin  ·  Employee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1AA15-9A5B-4135-B0C4-1F5028B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4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platform promise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DF6DF-6B2E-4ED9-A0D6-FDE74B80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28232-7784-40A9-854E-9C2B4B8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6A267-8004-4619-9A03-9A4B99C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One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D32AE-D7D3-4FE8-822A-3D0FEFBB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C78"/>
                </a:solidFill>
                <a:latin typeface="Aptos"/>
                <a:ea typeface="Aptos"/>
                <a:cs typeface="Aptos"/>
              </a:rPr>
              <a:t>A single source of truth for the complete asset journey.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6D3B6-E93E-4976-B52F-97F5A190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35C"/>
          </a:solidFill>
          <a:ln xmlns:a="http://schemas.openxmlformats.org/drawingml/2006/main" w="9525">
            <a:solidFill>
              <a:srgbClr val="C7A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FEB46-4D04-4CA1-A893-D6ECE56B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57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D3CC5-8592-438A-8D39-9E3ABD82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Clear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1219E-FAFF-4B89-A099-20DF1EBB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004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C78"/>
                </a:solidFill>
                <a:latin typeface="Aptos"/>
                <a:ea typeface="Aptos"/>
                <a:cs typeface="Aptos"/>
              </a:rPr>
              <a:t>Every action is scoped to a role, company, and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27FF3-BF0C-4217-B6FC-7437EF23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AF9D8-BCB1-4441-9FD5-50F68788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6CD83-4563-4442-BBFC-3F92F28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95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Actionable insight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F8FA3-23B0-43CA-B2C6-C238185E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910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C78"/>
                </a:solidFill>
                <a:latin typeface="Aptos"/>
                <a:ea typeface="Aptos"/>
                <a:cs typeface="Aptos"/>
              </a:rPr>
              <a:t>Reports and AI answers turn operational data into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90AE5-F44C-46C1-BBF9-0A11304C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29527-7EA6-4E32-985D-7B5E1628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225B3-302E-4DA8-9A3E-12A3C92C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1129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6460D-E7D4-44E3-9AD9-5CBE8177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02 · USERS AND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32062-B5C1-4BE0-BD9F-6AB3BCED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Each role gets the control and context it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50A13-85CA-4F33-967F-BCBA3D8C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Role-based dashboards keep the platform simple for employees and powerful for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9D298-80E4-415A-8669-B0F9C441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276600" cy="34671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6FB37-F766-4386-B3CB-B7A4226D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Super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D10D9-ED7C-4FCD-BAC0-113F694D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66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5B81E-799B-48DE-9195-7859A21D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857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Register and manage companies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Activate / deactivate tenants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Monitor platform metrics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Review audit, AI, and notifications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DF91F-FA9D-4718-A4EF-196661F9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276600" cy="34671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ED8EB-5DFA-427B-94F9-53643970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7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7A8A"/>
                </a:solidFill>
                <a:latin typeface="Aptos"/>
                <a:ea typeface="Aptos"/>
                <a:cs typeface="Aptos"/>
              </a:rPr>
              <a:t>Company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82E34-AA62-4E72-86A3-76673524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Workspace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16638-0DF2-4FDB-9B08-3146D8F0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Manage people and departments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Procure, create, and allocate assets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Review requests and maintenance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Run reports and assist the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A8662-829C-4235-B946-088F22F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276600" cy="34671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BECE7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A3AE5-CE13-4CC3-B72A-78473B6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7C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7C64"/>
                </a:solidFill>
                <a:latin typeface="Aptos"/>
                <a:ea typeface="Aptos"/>
                <a:cs typeface="Aptos"/>
              </a:rPr>
              <a:t>Employee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6101C-0306-4647-AD88-DB39851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66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Personal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4BD59-7FA5-4966-AB46-DD67692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857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View assigned assets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Request additional equipment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Report maintenance issues</a:t>
            </a:r>
          </a:p>
          <a:p xmlns:a="http://schemas.openxmlformats.org/drawingml/2006/main">
            <a:pPr>
              <a:defRPr sz="1275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Track notifications and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12A3C-F52C-458B-A541-68A742F1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9E079-9E27-4735-A4C0-F35C0D2A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4776F-C769-444D-BC16-2EC4702B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8615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34240-C7EC-43C3-9D4D-A05DCF1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03 · 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4AE7-1317-4CBA-BE8C-354A0845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 React front end routes work through a service-oriented middle 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D263F-3947-44E3-A2C8-F3EAD745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The repository contains Spring Boot services, .NET services, an Express backend, a gateway, and shared MySQL persistence.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56D84-1BD7-439E-A18B-F2534E28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4EED2-0ECE-44B8-AEC8-AE88250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React UI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Bootstrap · Axios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AAB38-E726-496B-B666-9D9DF56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C7A3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BBEE4-59D6-4AF7-BD5B-869A8423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API Gateway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localhost:8080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C0386-0E2C-48EA-941B-CBF76883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C7A3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0CFC2-E3B8-4707-86C5-00665D3C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43375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Discovery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localhost:8761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F8C8A-0E5E-4881-97B9-9BA96FE8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133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25EBC-5EF0-4730-A30D-2125CA0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Spring Boot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Auth · Company · Asset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F794C-C892-4092-BB07-70C6F5F7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2133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C1BEC-47F0-4460-A534-D69AEE8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908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.NET services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Asset · Company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BA6F8-16F0-403D-A585-EDFDEEC8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2133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892D5-5FCF-4CCE-96D9-E8CF43F6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Express backend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REST + 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991DC-216A-4252-9C75-739B0A7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7526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1632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6B502-D969-4AE5-B358-A5FD4F43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5277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MySQL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Tenant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16CA8-F16A-43CC-8E6E-4A0518E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29150"/>
            <a:ext cx="2362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ECE7"/>
          </a:solidFill>
          <a:ln xmlns:a="http://schemas.openxmlformats.org/drawingml/2006/main" w="11430">
            <a:solidFill>
              <a:srgbClr val="D87C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B44E7-0B36-4473-9A1D-ABF6BF7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5297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Gemini AI · Email · Reports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0350" y="2962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276850" y="2276475"/>
            <a:ext cx="9334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276850" y="2962275"/>
            <a:ext cx="93345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276850" y="2962275"/>
            <a:ext cx="933450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371975" y="34004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A35C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43900" y="2276475"/>
            <a:ext cx="1181100" cy="1219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43900" y="34956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8343900" y="3495675"/>
            <a:ext cx="1181100" cy="1219200"/>
          </a:xfrm>
          <a:prstGeom xmlns:a="http://schemas.openxmlformats.org/drawingml/2006/main" prst="bentConnector3">
            <a:avLst>
              <a:gd name="adj1" fmla="val 19355"/>
            </a:avLst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343900" y="2276475"/>
            <a:ext cx="571500" cy="2695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87C64"/>
            </a:solidFill>
            <a:prstDash val="solid"/>
            <a:head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D2B539-65F9-49FC-B216-0758E57B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4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84B63"/>
                </a:solidFill>
                <a:latin typeface="Aptos"/>
                <a:ea typeface="Aptos"/>
                <a:cs typeface="Aptos"/>
              </a:rPr>
              <a:t>The architectural choice: keep the user experience unified while allowing independent services to evolve behind the gateway.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3E763-E91B-4AE6-BF53-FE8D3A7A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3BA4EE-004E-4E41-AFC8-ADE6D8E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C7FFD-3E84-4559-AD01-B0E8D59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4684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74FDC5-A7B1-4718-85D0-BD6E4AE6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04 · WORKING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1A2F7-0570-4A81-978B-E6848BC4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operating cycle begins with a tenant and ends with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0F977-523D-42C4-82B7-6920111A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carries each business event forward so the next action has the right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AA166-8256-473A-BBF5-5522FEEE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581150" cy="17907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2DB43-FDF9-4816-9FD6-D217AF21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8547D-EA54-4315-9E8E-DA78A63D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Create 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FB1F2-0C60-4DAB-B5B8-C2F50BCF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Tenant, admin, role, welcome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D06D8-47AD-43EC-ABBC-ACEFC082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14600"/>
            <a:ext cx="1581150" cy="17907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F1A4-5363-4D4C-BE14-D19324E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24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7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A8A"/>
                </a:solidFill>
                <a:latin typeface="Aptos"/>
                <a:ea typeface="Aptos"/>
                <a:cs typeface="Aptos"/>
              </a:rPr>
              <a:t>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4E8AC-0B09-4A31-8A4D-75E96232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86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Set up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7919D-356E-48C0-8B29-B067A7D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909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Departments, people, vendors, locations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9873F-844D-4508-8AEF-CD51507E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1581150" cy="17907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A17C3-48DB-4746-8CE5-B5362C9F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6694E-63EA-4B36-A707-5B7A85C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Create asset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AAB2A-A13C-413D-94A6-8CAC044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PO, category, serial, warranty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3A838-BF45-4A4F-8AE8-A4172DA9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14600"/>
            <a:ext cx="1581150" cy="17907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B9CB6-A4E1-4F13-8EF4-F8E0C5E7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7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A8A"/>
                </a:solidFill>
                <a:latin typeface="Aptos"/>
                <a:ea typeface="Aptos"/>
                <a:cs typeface="Aptos"/>
              </a:rPr>
              <a:t>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FE01F-5E79-49D9-B567-B0A06A41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86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Assign equipment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957B0-399B-4F2D-9C20-E0F51A4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909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Employee, date, status,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518EE-17A5-4990-A263-452EB427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1581150" cy="17907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8F9E5-5740-49B8-9D63-DF3FD8A9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BF4B8-29FB-4FDF-AAF2-E986A45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86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Request or maintain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7DD35-D043-4A89-90E8-1A747C1C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Approvals, repairs, notifications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66283-AA72-4478-A71D-1398BA97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14600"/>
            <a:ext cx="1581150" cy="17907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2965A-5D8C-4868-86F8-541892C5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24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7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A8A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E52FC-F540-4A5C-8B01-D7C27B31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86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Report and 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C09DC4-EC5A-46ED-AE99-EFA07C6C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909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Dashboards, exports, AI assistant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A81F4A-5706-4017-B106-2F76A5FA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4B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84B63"/>
                </a:solidFill>
                <a:latin typeface="Aptos"/>
                <a:ea typeface="Aptos"/>
                <a:cs typeface="Aptos"/>
              </a:rPr>
              <a:t>Every transition can generate a notification and an audit entry — making the workflow visible, not implicit.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90C26-79A9-44AB-BBEF-0174DF64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879E03-C745-4C0E-85F8-675A2D1C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BF2FD1-84D0-4193-B63C-6768811E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327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8DFDC-0698-435B-8B42-A1563F0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05 · ASSET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C422C-4257-4AAF-9D20-F80A0646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asset record stays useful long after purchase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7B94-BC58-4286-8C92-C37A1DB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A single asset can move through availability, assignment, repair, transfer, and return without losing its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2EE3A-B714-4D77-A465-9046CF3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676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C7A3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8F6C8-6AC6-4B21-B1E3-A33EB3B7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76575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Purchase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423AC-B474-4D7A-A5F7-AB0EA3B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PO + vendor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11D8D-F975-442D-8B1C-1EFF3D6E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1676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082D-0CEF-48E4-99AD-2B24D921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76575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64246-B5BC-49A3-B642-835CC9A3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57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Location + warranty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5DD0F-8B75-414E-B147-2537BFFF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1676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CE7"/>
          </a:solidFill>
          <a:ln xmlns:a="http://schemas.openxmlformats.org/drawingml/2006/main" w="11430">
            <a:solidFill>
              <a:srgbClr val="D87C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03ABD-F2C4-4CF9-BF48-FB2D4DAF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76575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Allocated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AA267-0EF1-44DD-83DB-71FCC0BB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57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Employee +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92DE0-C545-4DFE-AE7D-04BC069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1676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C7A3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E4525-4CFB-453B-90E5-77DAE1DC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76575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16C17-F172-456F-91F3-797A7DC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57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Issue +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6D93D-DB95-42EA-8327-ECA3DC70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1676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3F8D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91F10-F42B-478A-9F22-A7E74A5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76575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531D6-DDA6-4184-90FF-D009DC83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Ready again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07434-F6FA-49B1-A3C0-433CE966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981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0AC9F-2B50-44E6-B76B-229819F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669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Example: Dell Latitude 7440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978AF-F2B7-4788-89E3-B44E84A3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Laptop · Dell · PO-001 · Pune Office · warranty tracked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35A3A-23AE-4D79-9C38-67B8659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76800"/>
            <a:ext cx="8915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1632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DEBE1-2EFB-43B2-8B09-EDAB8B60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958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Status, owner, location, history, and accountability travel together.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76DB4-ED68-44E5-B6DB-6597D77E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C2404-3391-41B8-87D6-2AA57F88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3F82A-8949-4CD2-9459-6CD656E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6998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62369-8409-44DF-A4BD-74360B0F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06 · MULTI-TENANT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53566-A080-4EFC-AF5B-BD6CF96A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One platform, isolated workspaces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6BEA3-B74B-4693-B55A-FE43516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The company scope is carried through authentication, service access, and business records so users only see their own organization.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5ACC4-1AC0-45D9-BEED-EDA51F7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76400"/>
            <a:ext cx="2628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1632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CCAB4-5BF0-49B7-B1D9-CA146BAF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0225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 ADMIN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33280-891F-43F7-8345-185C9732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2590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C1C68-3A4A-45BA-9A2A-09B2975E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9975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COMPANY A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admin + employees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A42CF-EA09-4F22-8761-19B98A3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6150"/>
            <a:ext cx="2590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C7A3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C98CE-4EAF-4757-83A6-89640B6C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09975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COMPANY B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admin + employees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4488A-0A04-478A-9725-D7F2A2E3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590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ECE7"/>
          </a:solidFill>
          <a:ln xmlns:a="http://schemas.openxmlformats.org/drawingml/2006/main" w="11430">
            <a:solidFill>
              <a:srgbClr val="D87C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B345C-3350-4E08-87CD-035EAD05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9975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COMPANY C</a:t>
            </a:r>
          </a:p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admin + employees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57450" y="2400300"/>
            <a:ext cx="3638550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E7A8A"/>
            </a:solidFill>
            <a:prstDash val="solid"/>
            <a:headEnd type="arrow" w="sm" len="sm"/>
          </a:ln>
        </p:spPr>
      </p:cxnSp>
      <p:cxnSp>
        <p:nvCxnSpPr>
          <p:cNvPr id="39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4003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A35C"/>
            </a:solidFill>
            <a:prstDash val="solid"/>
            <a:headEnd type="arrow" w="sm" len="sm"/>
          </a:ln>
        </p:spPr>
      </p:cxnSp>
      <p:cxnSp>
        <p:nvCxnSpPr>
          <p:cNvPr id="40" name="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400300"/>
            <a:ext cx="3638550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87C64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4E154-120A-4DAE-A13E-1223BF2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Tenant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C952B-33D7-466C-AAF7-9C9A940E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JWT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E7F01-28AF-4091-88C9-2FA4B6F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Who is the user?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8C4E4-D74F-4E10-8652-6BE2A04D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00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Company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3EB2D-065A-4C7C-B92C-ABF06DB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6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Which workspace?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C8C54-43C7-43F7-8CB4-B85B0C20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4C77B-3001-4B26-AFB7-ADF75C36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What changed?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B1B26-4EAC-47A9-8CB8-80017BD0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00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Role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872EC-6D21-4004-B620-6509F853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6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What can they do?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C63E8-D430-4A36-9D45-55708A6C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5511F-02BB-47EC-945E-8629A12B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D52D6-3B6B-4F80-8672-A65E81C5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3150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07DCDC-76D6-405C-9D87-820B301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07 · CONTRIBUTION AND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4DF9A-C374-4CA9-9A71-4FA283DE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project was built as a coordinated, full-stack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E211E-0877-409D-98F7-50F8062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The repository shows a working combination of frontend experience, service design, database integration, security, and collaboration practices.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4C53C-8374-4E28-A600-D42B9860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Contribution 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31151-B2D9-40EC-8C1E-E238548E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E8380-448A-4696-B86F-88D84CBD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510AC-FAE2-4356-8D44-262B714C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1E7FB-6970-4AB7-A5FE-0E75B643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React pages, role-based navigation, dashboards,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871CD-E801-4912-83C9-73B90697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35C"/>
          </a:solidFill>
          <a:ln xmlns:a="http://schemas.openxmlformats.org/drawingml/2006/main" w="9525">
            <a:solidFill>
              <a:srgbClr val="C7A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0A62B-FBF3-4E7A-B1AE-171F76BE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6FBC1-1649-4C64-A40F-E87D966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DB96F-3976-46A8-B4A7-7BB5A8EF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90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Spring Boot microservices, .NET services, Express APIs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C9F7C-DBC0-4FB1-B1F3-ABF47B60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4C22D-9C6B-42E3-BA96-832A5FE9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2335A-1FF5-457A-9211-CDCF2714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43A36-5720-477D-B4D6-184F9C9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05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JWT authentication, tenant scope, audit and notification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21CDD-8CBC-4D12-99FA-E71C8A6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55BA7-0C59-4332-8DE7-02F36836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A8DC0-A0F0-424C-A50A-BAB81062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70BF5-0B59-4BA7-97F6-975AC56D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C6C78"/>
                </a:solidFill>
                <a:latin typeface="Aptos"/>
                <a:ea typeface="Aptos"/>
                <a:cs typeface="Aptos"/>
              </a:rPr>
              <a:t>Gemini assistant, search, exports, operational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979F5-D192-4FEA-92A0-FC68AA11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5529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16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C3E4A-2C6D-4B9E-A791-F7098316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Delivery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9B2A2-8C41-4893-AB0B-4C0733B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72829-3353-4F6E-ACFA-BE89D4D8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6702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155DB3-3BF8-45D2-AEFD-3D0CFBAA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 the business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CD6E0-3ADA-4AF2-9398-A8961037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5D9BD-4469-4E5A-8336-2E0597E8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6707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F3386-63ED-40A2-B4FF-9F2E3618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Divide into services and roles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0FE86-822D-4285-BDBE-FDBB4A3F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421BC-E66C-4EAB-883B-C951E50A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6712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AE076-6CF2-49D9-ACD8-2C5A3C7F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004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in small vertical slices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8D11C2-FAC7-4D44-82D0-E4708829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9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BC8E45-22BC-40FF-B9A1-6516B02F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6717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D27A32-F2BF-4B29-8F4B-3ADA4B2A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 APIs, data, and 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31A205-B429-465D-9D18-753BC1E0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8A"/>
          </a:solidFill>
          <a:ln xmlns:a="http://schemas.openxmlformats.org/drawingml/2006/main" w="9525">
            <a:solidFill>
              <a:srgbClr val="1E7A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DFAF16-809E-46E3-B8C4-ED41F2F0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6722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FD4DD-2E2F-4175-BEEB-952290A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00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Commit, review, and integrate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EC025C-2DDA-437B-8D17-528C262C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05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CDE1E7"/>
                </a:solidFill>
                <a:latin typeface="Aptos"/>
                <a:ea typeface="Aptos"/>
                <a:cs typeface="Aptos"/>
              </a:defRPr>
            </a:pPr>
            <a:r>
              <a:rPr sz="1200" i="1">
                <a:solidFill>
                  <a:srgbClr val="CDE1E7"/>
                </a:solidFill>
                <a:latin typeface="Aptos"/>
                <a:ea typeface="Aptos"/>
                <a:cs typeface="Aptos"/>
              </a:rPr>
              <a:t>A phased, Git-backed workflow keeps a complex platform understandable.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17E49-C806-4726-BE6C-F3E0CB9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42686F-7075-4D79-98AD-C97332B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8799B6-F356-423D-B37E-AF6AF4EA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2727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E2106-EE32-46A5-B97D-2363DA7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08 · TESTING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5286-2CC8-4473-AA9B-485F8001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Quality is checked at the boundaries where risk enters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54896-625A-4566-A8B4-CEE42FE0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The testing approach follows the architecture: verify data, APIs, service startup, and the user journey separately, then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2AFE9-9361-49CF-94FE-921415F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381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C7A3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83E0D-FD9F-42DB-BF78-1E524222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49756-3662-4890-A1AC-6AD1C62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C46F6-3BDE-4CA7-A039-0F139370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C78"/>
                </a:solidFill>
                <a:latin typeface="Aptos"/>
                <a:ea typeface="Aptos"/>
                <a:cs typeface="Aptos"/>
              </a:rPr>
              <a:t>Schema scripts, constraints, tenant-scoped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D5D24-EEED-4F74-99FC-23A0BD7D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381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1E7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341B1-69E9-4C1F-82FB-9BEDB0BF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7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7A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4D16F-6BD3-4EFF-B3A2-88F86524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A1D29-4A02-41A8-9F46-37954F47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C78"/>
                </a:solidFill>
                <a:latin typeface="Aptos"/>
                <a:ea typeface="Aptos"/>
                <a:cs typeface="Aptos"/>
              </a:rPr>
              <a:t>Spring Boot context tests and backend startup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6E44C-FCA7-471D-A6D4-C452958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2381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BECE7"/>
          </a:solidFill>
          <a:ln xmlns:a="http://schemas.openxmlformats.org/drawingml/2006/main" w="11430">
            <a:solidFill>
              <a:srgbClr val="D87C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672FA-79C8-499D-BDF8-FE7563A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7C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7C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DD25F-9D84-46A2-8ED7-619280C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40CE7-10AE-4F9F-92BE-0B39C617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C78"/>
                </a:solidFill>
                <a:latin typeface="Aptos"/>
                <a:ea typeface="Aptos"/>
                <a:cs typeface="Aptos"/>
              </a:rPr>
              <a:t>REST endpoint checks with valid and invalid role scopes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D316A-45E8-4A22-AC99-70F1CCF9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81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11430">
            <a:solidFill>
              <a:srgbClr val="3F8D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5B2B9-069E-40E2-822E-5082A89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F8D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F8D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31BEB-71C0-474D-82AC-26119EE1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UI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1CBA6-9AEF-4818-B49A-5BC76830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C78"/>
                </a:solidFill>
                <a:latin typeface="Aptos"/>
                <a:ea typeface="Aptos"/>
                <a:cs typeface="Aptos"/>
              </a:rPr>
              <a:t>Manual and end-to-end checks for role flows and exports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D2F5F-3C4E-4562-AA9E-AE33B82A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4B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84B63"/>
                </a:solidFill>
                <a:latin typeface="Aptos"/>
                <a:ea typeface="Aptos"/>
                <a:cs typeface="Aptos"/>
              </a:rPr>
              <a:t>Test the happy path — then test the boundary: wrong role, wrong tenant, missing dependency, and unavailable integration.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4139B-09F8-49F8-AECC-9F98B58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90DA2-88D3-4307-84C7-EC42594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B0301-EEBA-44B3-9C8F-94256F9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3529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2A3C4-3440-4CF0-9347-9B30E26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09 · FUTURE EXTENSIONS AND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001E7-D4E2-4956-9E43-F28A7F26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foundation is ready for deeper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CF5FC-084D-4B7B-8F2B-7057BB48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already closes the core lifecycle; the next step is to make the platform more predictive, observable, and self-service.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C00B5-E0A1-4612-986F-532F46F9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Future extensions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7BDB7-8764-4B06-AF09-20BE399D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895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D5263-A52A-4650-A533-D65CAEC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Predictive maintenance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D0B12-E9CD-4F3A-8974-A2F4DB5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Use repair history and usage signals to surface risk earlier.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AD8C5-3E89-4334-992C-317822D2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895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851B5-8C76-45B5-90ED-EF4472F9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Inventory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06E6A-4775-4352-A055-0241EE0A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Forecast demand and optimize procurement across tenants.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7DA14-0A1C-41B5-8435-7D043E7D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895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8B121-9319-4B14-9223-77C2484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Operational integrations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B2DF1-3CFE-47AA-90F1-EB4EA805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C78"/>
                </a:solidFill>
                <a:latin typeface="Aptos"/>
                <a:ea typeface="Aptos"/>
                <a:cs typeface="Aptos"/>
              </a:rPr>
              <a:t>Connect email, identity, finance, and device management.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179F0-7F33-412F-B239-25AC115A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481965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1632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09BC8-F62B-47E6-B85D-CBB99736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Lessons learned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00542-33FA-45BC-B35B-26DD3CA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4000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Complexity becomes manageable when the business flow is explicit.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Technology boundaries matter less when contracts are clear.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Tenant isolation must be designed into every read and write.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Auditability and failure handling are product features, not afterthoughts.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69F2E-7D5F-4749-8086-DAAACD73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C1465-EC8F-4513-97E7-28322B9D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C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6C78"/>
                </a:solidFill>
                <a:latin typeface="Aptos"/>
                <a:ea typeface="Aptos"/>
                <a:cs typeface="Aptos"/>
              </a:rPr>
              <a:t>ASSETFLOW · PROJECT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5A9CF-C857-44C1-B30A-DEE2A2C5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0147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4B628-4EA4-4102-AFB2-8F7EDE0D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ASSETFLOW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29657-8B70-41EB-9AD3-31327266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purchase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proof of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2A5E1-A46A-4738-B8F6-45AACAA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8E7E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8E7EC"/>
                </a:solidFill>
                <a:latin typeface="Aptos"/>
                <a:ea typeface="Aptos"/>
                <a:cs typeface="Aptos"/>
              </a:rPr>
              <a:t>A secure, multi-tenant asset lifecycle platform that makes every item, action, and decision accountable.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4C9A-E25B-4620-A8A8-D83E2433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11430">
            <a:solidFill>
              <a:srgbClr val="3B66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A9256-C653-45DD-A21D-D4B270DF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719A0-8B8D-4430-ABC1-72AB6870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716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11430">
            <a:solidFill>
              <a:srgbClr val="3B66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A42C4-1D0D-47CB-89E7-19A3AF2C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6724D-EFE0-4486-B1AC-E23243A7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7A35C"/>
          </a:solidFill>
          <a:ln xmlns:a="http://schemas.openxmlformats.org/drawingml/2006/main" w="11430">
            <a:solidFill>
              <a:srgbClr val="C7A3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9709B-58BA-4655-BF88-2CE4EE10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4FADC-97A6-4710-8511-ED7B3869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384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11430">
            <a:solidFill>
              <a:srgbClr val="3B66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D33C6-B5E5-4D56-8139-E3F8D40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84D7B-F78A-4170-9A51-5B6B1D9B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A3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A35C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F1C97-EDD0-4FC2-AE14-5DFAE492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FC4C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FC4CF"/>
                </a:solidFill>
                <a:latin typeface="Aptos"/>
                <a:ea typeface="Aptos"/>
                <a:cs typeface="Aptos"/>
              </a:rPr>
              <a:t>Questions · discussion · next step</a:t>
            </a:r>
          </a:p>
        </p:txBody>
      </p:sp>
    </p:spTree>
    <p:extLst>
      <p:ext uri="{BB962C8B-B14F-4D97-AF65-F5344CB8AC3E}">
        <p14:creationId xmlns:p14="http://schemas.microsoft.com/office/powerpoint/2010/main" val="128600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2026-08-05T07:49:45.9140000Z</dcterms:created>
  <dcterms:modified xsi:type="dcterms:W3CDTF">2026-08-05T07:49:45.9140000Z</dcterms:modified>
</coreProperties>
</file>