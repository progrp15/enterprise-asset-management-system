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23232606e841e2" /><Relationship Type="http://schemas.openxmlformats.org/officeDocument/2006/relationships/extended-properties" Target="/docProps/app.xml" Id="Raf235e1f275d47e1" /><Relationship Type="http://schemas.openxmlformats.org/officeDocument/2006/relationships/officeDocument" Target="/ppt/presentation.xml" Id="R4a0a4ec528564a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4e477467164505"/>
  </p:sldMasterIdLst>
  <p:notesMasterIdLst>
    <p:notesMasterId xmlns:r="http://schemas.openxmlformats.org/officeDocument/2006/relationships" r:id="Ra6f2138c5b67490a"/>
  </p:notesMasterIdLst>
  <p:sldIdLst>
    <p:sldId xmlns:r="http://schemas.openxmlformats.org/officeDocument/2006/relationships" id="256" r:id="Rf0de9bf153c14c90"/>
    <p:sldId xmlns:r="http://schemas.openxmlformats.org/officeDocument/2006/relationships" id="257" r:id="R82b463cce0c34089"/>
    <p:sldId xmlns:r="http://schemas.openxmlformats.org/officeDocument/2006/relationships" id="258" r:id="Rdb99a2b97ac24436"/>
    <p:sldId xmlns:r="http://schemas.openxmlformats.org/officeDocument/2006/relationships" id="259" r:id="R36bc52bf745649b4"/>
    <p:sldId xmlns:r="http://schemas.openxmlformats.org/officeDocument/2006/relationships" id="260" r:id="Rf836c47834894503"/>
    <p:sldId xmlns:r="http://schemas.openxmlformats.org/officeDocument/2006/relationships" id="261" r:id="Rb3ea665917174e1b"/>
    <p:sldId xmlns:r="http://schemas.openxmlformats.org/officeDocument/2006/relationships" id="262" r:id="R13c01e9326724963"/>
    <p:sldId xmlns:r="http://schemas.openxmlformats.org/officeDocument/2006/relationships" id="263" r:id="Rb30cb58bd7424d75"/>
    <p:sldId xmlns:r="http://schemas.openxmlformats.org/officeDocument/2006/relationships" id="264" r:id="R9386fc0158a243ad"/>
    <p:sldId xmlns:r="http://schemas.openxmlformats.org/officeDocument/2006/relationships" id="265" r:id="R0ca77c19429f4de5"/>
    <p:sldId xmlns:r="http://schemas.openxmlformats.org/officeDocument/2006/relationships" id="266" r:id="R76718ea6ff734e74"/>
    <p:sldId xmlns:r="http://schemas.openxmlformats.org/officeDocument/2006/relationships" id="267" r:id="R709f1e371f9c4d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dadb552bc5486d" /><Relationship Type="http://schemas.openxmlformats.org/officeDocument/2006/relationships/slideMaster" Target="/ppt/slideMasters/slideMaster1.xml" Id="R774e477467164505" /><Relationship Type="http://schemas.openxmlformats.org/officeDocument/2006/relationships/notesMaster" Target="/ppt/notesMasters/notesMaster1.xml" Id="Ra6f2138c5b67490a" /><Relationship Type="http://schemas.openxmlformats.org/officeDocument/2006/relationships/presProps" Target="/ppt/presProps.xml" Id="R0bfdf91512a848f6" /><Relationship Type="http://schemas.openxmlformats.org/officeDocument/2006/relationships/tableStyles" Target="/ppt/tableStyles.xml" Id="R0f9159b206774140" /><Relationship Type="http://schemas.openxmlformats.org/officeDocument/2006/relationships/slide" Target="/ppt/slides/slide1.xml" Id="Rf0de9bf153c14c90" /><Relationship Type="http://schemas.openxmlformats.org/officeDocument/2006/relationships/slide" Target="/ppt/slides/slide2.xml" Id="R82b463cce0c34089" /><Relationship Type="http://schemas.openxmlformats.org/officeDocument/2006/relationships/slide" Target="/ppt/slides/slide3.xml" Id="Rdb99a2b97ac24436" /><Relationship Type="http://schemas.openxmlformats.org/officeDocument/2006/relationships/slide" Target="/ppt/slides/slide4.xml" Id="R36bc52bf745649b4" /><Relationship Type="http://schemas.openxmlformats.org/officeDocument/2006/relationships/slide" Target="/ppt/slides/slide5.xml" Id="Rf836c47834894503" /><Relationship Type="http://schemas.openxmlformats.org/officeDocument/2006/relationships/slide" Target="/ppt/slides/slide6.xml" Id="Rb3ea665917174e1b" /><Relationship Type="http://schemas.openxmlformats.org/officeDocument/2006/relationships/slide" Target="/ppt/slides/slide7.xml" Id="R13c01e9326724963" /><Relationship Type="http://schemas.openxmlformats.org/officeDocument/2006/relationships/slide" Target="/ppt/slides/slide8.xml" Id="Rb30cb58bd7424d75" /><Relationship Type="http://schemas.openxmlformats.org/officeDocument/2006/relationships/slide" Target="/ppt/slides/slide9.xml" Id="R9386fc0158a243ad" /><Relationship Type="http://schemas.openxmlformats.org/officeDocument/2006/relationships/slide" Target="/ppt/slides/slide10.xml" Id="R0ca77c19429f4de5" /><Relationship Type="http://schemas.openxmlformats.org/officeDocument/2006/relationships/slide" Target="/ppt/slides/slide11.xml" Id="R76718ea6ff734e74" /><Relationship Type="http://schemas.openxmlformats.org/officeDocument/2006/relationships/slide" Target="/ppt/slides/slide12.xml" Id="R709f1e371f9c4d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6cd72ba02245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f1a0a6fdee4a44" /><Relationship Type="http://schemas.openxmlformats.org/officeDocument/2006/relationships/notesMaster" Target="/ppt/notesMasters/notesMaster1.xml" Id="R12de8f19e59949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801543c8f740c7" /><Relationship Type="http://schemas.openxmlformats.org/officeDocument/2006/relationships/notesMaster" Target="/ppt/notesMasters/notesMaster1.xml" Id="R30296dd2e7b64d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73414de83b436c" /><Relationship Type="http://schemas.openxmlformats.org/officeDocument/2006/relationships/notesMaster" Target="/ppt/notesMasters/notesMaster1.xml" Id="R55b20df964254f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41b544e40744ba" /><Relationship Type="http://schemas.openxmlformats.org/officeDocument/2006/relationships/notesMaster" Target="/ppt/notesMasters/notesMaster1.xml" Id="Rd7086429ba8c4a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3bb55d6eaa4bb4" /><Relationship Type="http://schemas.openxmlformats.org/officeDocument/2006/relationships/notesMaster" Target="/ppt/notesMasters/notesMaster1.xml" Id="Rcdb75c7a03f048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b86c2aa5404a31" /><Relationship Type="http://schemas.openxmlformats.org/officeDocument/2006/relationships/notesMaster" Target="/ppt/notesMasters/notesMaster1.xml" Id="R6feb8248c7e34c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7455a674d6427a" /><Relationship Type="http://schemas.openxmlformats.org/officeDocument/2006/relationships/notesMaster" Target="/ppt/notesMasters/notesMaster1.xml" Id="Rb1e45ba014074e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cc98a4ce234ab1" /><Relationship Type="http://schemas.openxmlformats.org/officeDocument/2006/relationships/notesMaster" Target="/ppt/notesMasters/notesMaster1.xml" Id="Re3830233533449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ab2e048a7c4a29" /><Relationship Type="http://schemas.openxmlformats.org/officeDocument/2006/relationships/notesMaster" Target="/ppt/notesMasters/notesMaster1.xml" Id="Rf0bc660101e543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0e812bfaaa4132" /><Relationship Type="http://schemas.openxmlformats.org/officeDocument/2006/relationships/notesMaster" Target="/ppt/notesMasters/notesMaster1.xml" Id="R0f5f3576af464e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9eaf289ab74962" /><Relationship Type="http://schemas.openxmlformats.org/officeDocument/2006/relationships/notesMaster" Target="/ppt/notesMasters/notesMaster1.xml" Id="Rf9e02cd4823844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e09838933c4c11" /><Relationship Type="http://schemas.openxmlformats.org/officeDocument/2006/relationships/notesMaster" Target="/ppt/notesMasters/notesMaster1.xml" Id="Rebea52ed788f49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8c794a11148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f7eb65d60a4b98" /><Relationship Type="http://schemas.openxmlformats.org/officeDocument/2006/relationships/slideLayout" Target="/ppt/slideLayouts/slideLayout1.xml" Id="R3e50c1b8fb5a43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50c1b8fb5a43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e97e5be26418b" /><Relationship Type="http://schemas.openxmlformats.org/officeDocument/2006/relationships/notesSlide" Target="/ppt/notesSlides/notesSlide1.xml" Id="R8ca9a08c485b48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07793b6db44eb" /><Relationship Type="http://schemas.openxmlformats.org/officeDocument/2006/relationships/notesSlide" Target="/ppt/notesSlides/notesSlide2.xml" Id="Rfb7e8dccb6d546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2d9b462aa40e8" /><Relationship Type="http://schemas.openxmlformats.org/officeDocument/2006/relationships/notesSlide" Target="/ppt/notesSlides/notesSlide3.xml" Id="R09b111f9f3cf4c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21b918ce94884" /><Relationship Type="http://schemas.openxmlformats.org/officeDocument/2006/relationships/notesSlide" Target="/ppt/notesSlides/notesSlide4.xml" Id="Rf689356f744741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72701d10c4b63" /><Relationship Type="http://schemas.openxmlformats.org/officeDocument/2006/relationships/notesSlide" Target="/ppt/notesSlides/notesSlide5.xml" Id="R9fe0b906ab1445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8111b97ff4d29" /><Relationship Type="http://schemas.openxmlformats.org/officeDocument/2006/relationships/notesSlide" Target="/ppt/notesSlides/notesSlide6.xml" Id="R7207ed919ca24e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09447388b42e5" /><Relationship Type="http://schemas.openxmlformats.org/officeDocument/2006/relationships/notesSlide" Target="/ppt/notesSlides/notesSlide7.xml" Id="R0b544c52cbab45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1c9f4c23048b3" /><Relationship Type="http://schemas.openxmlformats.org/officeDocument/2006/relationships/notesSlide" Target="/ppt/notesSlides/notesSlide8.xml" Id="Ra5aa3af75eed4d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bcc249dbe4aa8" /><Relationship Type="http://schemas.openxmlformats.org/officeDocument/2006/relationships/notesSlide" Target="/ppt/notesSlides/notesSlide9.xml" Id="Rf59238646a624b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6da483ad6457d" /><Relationship Type="http://schemas.openxmlformats.org/officeDocument/2006/relationships/notesSlide" Target="/ppt/notesSlides/notesSlide10.xml" Id="R43d142bd644247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6a40cb77441da" /><Relationship Type="http://schemas.openxmlformats.org/officeDocument/2006/relationships/notesSlide" Target="/ppt/notesSlides/notesSlide11.xml" Id="Rd373bf11ef7045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b97f90b1e4ef8" /><Relationship Type="http://schemas.openxmlformats.org/officeDocument/2006/relationships/notesSlide" Target="/ppt/notesSlides/notesSlide12.xml" Id="R611921af579141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AFF70-0557-4632-ACA7-90916A4A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BAB9C-5D14-47D5-BCBF-9F9742F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7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B1FF"/>
                </a:solidFill>
              </a:defRPr>
            </a:pPr>
            <a:r>
              <a:rPr sz="1350" b="1">
                <a:solidFill>
                  <a:srgbClr val="A7B1FF"/>
                </a:solidFill>
              </a:rPr>
              <a:t>ASSETFLOW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E8501-2E73-434C-86E0-7FA92BC9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240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Enterprise asset operations,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finally in one 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283F1-E079-425E-B41C-B92386D3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2E8"/>
                </a:solidFill>
              </a:defRPr>
            </a:pPr>
            <a:r>
              <a:rPr sz="1650" b="0">
                <a:solidFill>
                  <a:srgbClr val="C9D2E8"/>
                </a:solidFill>
              </a:rPr>
              <a:t>A multi-tenant SaaS platform for managing assets from purchase to return, with secure role-based workflows.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DEBC1-5B8B-4A30-90D2-3BC4A505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857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7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8BF14-98EF-43A5-B180-0E091203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FC9FF"/>
                </a:solidFill>
              </a:defRPr>
            </a:pPr>
            <a:r>
              <a:rPr sz="1050" b="1">
                <a:solidFill>
                  <a:srgbClr val="BFC9FF"/>
                </a:solidFill>
              </a:rPr>
              <a:t>React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774E6-54CF-44AC-95D3-92EE8A16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577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7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18F7F-B73E-43D0-8003-68B3E698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24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FC9FF"/>
                </a:solidFill>
              </a:defRPr>
            </a:pPr>
            <a:r>
              <a:rPr sz="1050" b="1">
                <a:solidFill>
                  <a:srgbClr val="BFC9FF"/>
                </a:solidFill>
              </a:rPr>
              <a:t>Spring Boot Microservices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ACB68-7F7F-48FE-9951-069B4740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95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27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0B566-E9EF-4723-B9FC-08358C74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243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FC9FF"/>
                </a:solidFill>
              </a:defRPr>
            </a:pPr>
            <a:r>
              <a:rPr sz="1050" b="1">
                <a:solidFill>
                  <a:srgbClr val="BFC9FF"/>
                </a:solidFill>
              </a:rPr>
              <a:t>MySQL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0468C-4DF7-4305-A5E6-D9B3E303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19200"/>
            <a:ext cx="2857500" cy="3619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1F38"/>
          </a:solidFill>
          <a:ln xmlns:a="http://schemas.openxmlformats.org/drawingml/2006/main" w="9525">
            <a:solidFill>
              <a:srgbClr val="2B3A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0BE28-2B17-4529-91DB-250068F6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811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B8C7"/>
                </a:solidFill>
              </a:defRPr>
            </a:pPr>
            <a:r>
              <a:rPr sz="2100" b="1">
                <a:solidFill>
                  <a:srgbClr val="28B8C7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27AE4-6F92-4D48-B615-654DBB4F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86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Asset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3BBF7-B1AC-43C2-80AC-35C8854D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2E8"/>
                </a:solidFill>
              </a:defRPr>
            </a:pPr>
            <a:r>
              <a:rPr sz="1650" b="0">
                <a:solidFill>
                  <a:srgbClr val="C9D2E8"/>
                </a:solidFill>
              </a:rPr>
              <a:t>Purchase  →  Allocate</a:t>
            </a:r>
          </a:p>
          <a:p xmlns:a="http://schemas.openxmlformats.org/drawingml/2006/main">
            <a:pPr algn="l">
              <a:defRPr sz="1650" b="0">
                <a:solidFill>
                  <a:srgbClr val="C9D2E8"/>
                </a:solidFill>
              </a:defRPr>
            </a:pPr>
            <a:r>
              <a:rPr sz="1650" b="0">
                <a:solidFill>
                  <a:srgbClr val="C9D2E8"/>
                </a:solidFill>
              </a:rPr>
              <a:t>Maintain  →  Transfer</a:t>
            </a:r>
          </a:p>
          <a:p xmlns:a="http://schemas.openxmlformats.org/drawingml/2006/main">
            <a:pPr algn="l">
              <a:defRPr sz="1650" b="0">
                <a:solidFill>
                  <a:srgbClr val="C9D2E8"/>
                </a:solidFill>
              </a:defRPr>
            </a:pPr>
            <a:r>
              <a:rPr sz="1650" b="0">
                <a:solidFill>
                  <a:srgbClr val="C9D2E8"/>
                </a:solidFill>
              </a:rPr>
              <a:t>Return  →  Report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C13F8-E716-4A73-998E-EB853B71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1FF"/>
                </a:solidFill>
              </a:defRPr>
            </a:pPr>
            <a:r>
              <a:rPr sz="1200" b="1">
                <a:solidFill>
                  <a:srgbClr val="A7B1FF"/>
                </a:solidFill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966325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257A0-2AF0-443F-B42E-C5DE9749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01 | 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84F21-88B1-428B-81E9-C7CEC0C1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A shared source of truth for every company asset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7F237-C27B-4EEB-8FE9-F479D6EE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08B"/>
                </a:solidFill>
              </a:defRPr>
            </a:pPr>
            <a:r>
              <a:rPr sz="1200" b="1">
                <a:solidFill>
                  <a:srgbClr val="61708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366A1-4258-4057-A79F-C918643C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D0235-0AB4-4A16-A198-C7728610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63FF"/>
                </a:solidFill>
              </a:defRPr>
            </a:pPr>
            <a:r>
              <a:rPr sz="1800" b="1">
                <a:solidFill>
                  <a:srgbClr val="6D63FF"/>
                </a:solidFill>
              </a:rPr>
              <a:t>Business need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1DB26-7113-4E73-915C-BC225AAF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80274-0E7F-4DFF-A788-F594F4F2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13A"/>
                </a:solidFill>
              </a:defRPr>
            </a:pPr>
            <a:r>
              <a:rPr sz="1500" b="0">
                <a:solidFill>
                  <a:srgbClr val="13213A"/>
                </a:solidFill>
              </a:rPr>
              <a:t>Assets are often tracked across spreadsheets, emails, and disconnected approvals.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E7C71-50A2-4DDF-9311-18B8AF25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6193C-1946-4DED-B666-03888122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13A"/>
                </a:solidFill>
              </a:defRPr>
            </a:pPr>
            <a:r>
              <a:rPr sz="1500" b="0">
                <a:solidFill>
                  <a:srgbClr val="13213A"/>
                </a:solidFill>
              </a:rPr>
              <a:t>Employees need a simple way to request, receive, maintain, and return company assets.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FB5A6-1FF3-4EC7-8A9B-005C340A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4384B-E2E0-44DC-9164-D8121AD6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478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13A"/>
                </a:solidFill>
              </a:defRPr>
            </a:pPr>
            <a:r>
              <a:rPr sz="1500" b="0">
                <a:solidFill>
                  <a:srgbClr val="13213A"/>
                </a:solidFill>
              </a:rPr>
              <a:t>Administrators need tenant-safe visibility, lifecycle history, and auditability.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B7889-4444-46F8-819F-BB6D2C68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038600" cy="3181350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BC9A1-011C-422C-ACD1-C91138C3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AssetFlow 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32B70-628B-48A4-8F82-0AFD5993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670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0F2"/>
                </a:solidFill>
              </a:defRPr>
            </a:pPr>
            <a:r>
              <a:rPr sz="1500" b="0">
                <a:solidFill>
                  <a:srgbClr val="D8E0F2"/>
                </a:solidFill>
              </a:rPr>
              <a:t>One secure workspace for: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8E0F2"/>
                </a:solidFill>
              </a:defRPr>
            </a:pPr>
            <a:r>
              <a:rPr sz="1500" b="0">
                <a:solidFill>
                  <a:srgbClr val="D8E0F2"/>
                </a:solidFill>
              </a:rPr>
              <a:t>• Procurement records</a:t>
            </a:r>
          </a:p>
          <a:p xmlns:a="http://schemas.openxmlformats.org/drawingml/2006/main">
            <a:pPr algn="l">
              <a:defRPr sz="1500" b="0">
                <a:solidFill>
                  <a:srgbClr val="D8E0F2"/>
                </a:solidFill>
              </a:defRPr>
            </a:pPr>
            <a:r>
              <a:rPr sz="1500" b="0">
                <a:solidFill>
                  <a:srgbClr val="D8E0F2"/>
                </a:solidFill>
              </a:rPr>
              <a:t>• Employees and departments</a:t>
            </a:r>
          </a:p>
          <a:p xmlns:a="http://schemas.openxmlformats.org/drawingml/2006/main">
            <a:pPr algn="l">
              <a:defRPr sz="1500" b="0">
                <a:solidFill>
                  <a:srgbClr val="D8E0F2"/>
                </a:solidFill>
              </a:defRPr>
            </a:pPr>
            <a:r>
              <a:rPr sz="1500" b="0">
                <a:solidFill>
                  <a:srgbClr val="D8E0F2"/>
                </a:solidFill>
              </a:rPr>
              <a:t>• Asset allocations and requests</a:t>
            </a:r>
          </a:p>
          <a:p xmlns:a="http://schemas.openxmlformats.org/drawingml/2006/main">
            <a:pPr algn="l">
              <a:defRPr sz="1500" b="0">
                <a:solidFill>
                  <a:srgbClr val="D8E0F2"/>
                </a:solidFill>
              </a:defRPr>
            </a:pPr>
            <a:r>
              <a:rPr sz="1500" b="0">
                <a:solidFill>
                  <a:srgbClr val="D8E0F2"/>
                </a:solidFill>
              </a:rPr>
              <a:t>• Maintenance and transfers</a:t>
            </a:r>
          </a:p>
          <a:p xmlns:a="http://schemas.openxmlformats.org/drawingml/2006/main">
            <a:pPr algn="l">
              <a:defRPr sz="1500" b="0">
                <a:solidFill>
                  <a:srgbClr val="D8E0F2"/>
                </a:solidFill>
              </a:defRPr>
            </a:pPr>
            <a:r>
              <a:rPr sz="1500" b="0">
                <a:solidFill>
                  <a:srgbClr val="D8E0F2"/>
                </a:solidFill>
              </a:rPr>
              <a:t>• Notifications, reports, and audit logs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A6376-A0F1-4321-A3A7-8E09ADEE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542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BE4FA-1105-4E1C-9223-E742C26E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Target users: Super Admin • Company Admin • Employee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18218-3F3C-4163-8612-4CF9A496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AssetFlow  |  Enterprise Asset Management SaaS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13AA2-CF53-45FE-9F3C-5DC9794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College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012222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A90A53-7C60-4C00-9480-6D9B8917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02 | USERS AND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69586-5896-4331-8988-F31605E9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Three roles, with control matched to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5A9BE-9539-4936-926D-E402B38C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08B"/>
                </a:solidFill>
              </a:defRPr>
            </a:pPr>
            <a:r>
              <a:rPr sz="1200" b="1">
                <a:solidFill>
                  <a:srgbClr val="61708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D04F1-2255-4AC2-A51B-557AB477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62758-18AE-49E3-A9C2-D5FB7CC3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1432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299CD-8AF3-446E-A45C-4022C40F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31432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053F2-7299-48AE-A66C-FE4997D4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05000"/>
            <a:ext cx="31432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FDD67-AED8-4E6D-A97B-80DD14EC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63FF"/>
                </a:solidFill>
              </a:defRPr>
            </a:pPr>
            <a:r>
              <a:rPr sz="1350" b="1">
                <a:solidFill>
                  <a:srgbClr val="6D63FF"/>
                </a:solidFill>
              </a:rPr>
              <a:t>SUPER 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FF23C-4D35-4352-A5F0-6395ED7D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Owns the 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AD396-486E-49D6-896A-B691F9B3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3A"/>
                </a:solidFill>
              </a:defRPr>
            </a:pPr>
            <a:r>
              <a:rPr sz="13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B3C37-4B99-4584-AB35-7BEBBCBD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956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3A"/>
                </a:solidFill>
              </a:defRPr>
            </a:pPr>
            <a:r>
              <a:rPr sz="1350" b="0">
                <a:solidFill>
                  <a:srgbClr val="13213A"/>
                </a:solidFill>
              </a:rPr>
              <a:t>Create and manage companies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5D603-3A5E-4B6D-BEDE-D061EC21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3A"/>
                </a:solidFill>
              </a:defRPr>
            </a:pPr>
            <a:r>
              <a:rPr sz="13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16C4A-6858-4D2D-84D0-31E5FC19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3A"/>
                </a:solidFill>
              </a:defRPr>
            </a:pPr>
            <a:r>
              <a:rPr sz="1350" b="0">
                <a:solidFill>
                  <a:srgbClr val="13213A"/>
                </a:solidFill>
              </a:rPr>
              <a:t>Activate or suspend tenants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E9475-81DF-4172-8895-ABB1175F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3A"/>
                </a:solidFill>
              </a:defRPr>
            </a:pPr>
            <a:r>
              <a:rPr sz="13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6249A-1985-49DB-B678-FDEB99BE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95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3A"/>
                </a:solidFill>
              </a:defRPr>
            </a:pPr>
            <a:r>
              <a:rPr sz="1350" b="0">
                <a:solidFill>
                  <a:srgbClr val="13213A"/>
                </a:solidFill>
              </a:rPr>
              <a:t>View platform activity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D671C-BEA1-435B-B6ED-EF91D598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8F9B"/>
                </a:solidFill>
              </a:defRPr>
            </a:pPr>
            <a:r>
              <a:rPr sz="1350" b="1">
                <a:solidFill>
                  <a:srgbClr val="0C8F9B"/>
                </a:solidFill>
              </a:rPr>
              <a:t>COMPANY 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44677-581C-4A8A-9B7C-AF5B4AEB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Runs one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F7E90-EC0C-4854-8933-D941D27B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3A"/>
                </a:solidFill>
              </a:defRPr>
            </a:pPr>
            <a:r>
              <a:rPr sz="13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A9E55-E5A6-4840-8D1D-964E9620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956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3A"/>
                </a:solidFill>
              </a:defRPr>
            </a:pPr>
            <a:r>
              <a:rPr sz="1350" b="0">
                <a:solidFill>
                  <a:srgbClr val="13213A"/>
                </a:solidFill>
              </a:rPr>
              <a:t>Manage employees and setup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2A8FB-3387-421F-9DB6-4F1EEC31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57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3A"/>
                </a:solidFill>
              </a:defRPr>
            </a:pPr>
            <a:r>
              <a:rPr sz="13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BE630-EEA0-4DE9-BB9C-EEB8495D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576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3A"/>
                </a:solidFill>
              </a:defRPr>
            </a:pPr>
            <a:r>
              <a:rPr sz="1350" b="0">
                <a:solidFill>
                  <a:srgbClr val="13213A"/>
                </a:solidFill>
              </a:rPr>
              <a:t>Create and allocate assets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BDD4D-4DF0-407F-92D8-F545DC53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3A"/>
                </a:solidFill>
              </a:defRPr>
            </a:pPr>
            <a:r>
              <a:rPr sz="13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D6AEEE-D56B-4BAC-96FA-4C30B9FF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195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3A"/>
                </a:solidFill>
              </a:defRPr>
            </a:pPr>
            <a:r>
              <a:rPr sz="1350" b="0">
                <a:solidFill>
                  <a:srgbClr val="13213A"/>
                </a:solidFill>
              </a:rPr>
              <a:t>Approve requests and lifecycle 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77C263-E4B1-4286-BD6B-CE1F4647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47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6A14"/>
                </a:solidFill>
              </a:defRPr>
            </a:pPr>
            <a:r>
              <a:rPr sz="1350" b="1">
                <a:solidFill>
                  <a:srgbClr val="D06A14"/>
                </a:solidFill>
              </a:rPr>
              <a:t>EMPLOYEE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83EA76-9F97-4F04-9146-ED737F54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Uses assigned assets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370A7F-B7CA-4FF1-8BF6-BC389D7A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3A"/>
                </a:solidFill>
              </a:defRPr>
            </a:pPr>
            <a:r>
              <a:rPr sz="13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7C2B4-E1A0-4073-8030-6613A572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3A"/>
                </a:solidFill>
              </a:defRPr>
            </a:pPr>
            <a:r>
              <a:rPr sz="1350" b="0">
                <a:solidFill>
                  <a:srgbClr val="13213A"/>
                </a:solidFill>
              </a:rPr>
              <a:t>View own profile and assets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5ED9DB-F4DC-4014-B006-A592577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3A"/>
                </a:solidFill>
              </a:defRPr>
            </a:pPr>
            <a:r>
              <a:rPr sz="13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94950F-9325-4EB9-B761-F34C0485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3A"/>
                </a:solidFill>
              </a:defRPr>
            </a:pPr>
            <a:r>
              <a:rPr sz="1350" b="0">
                <a:solidFill>
                  <a:srgbClr val="13213A"/>
                </a:solidFill>
              </a:rPr>
              <a:t>Request or return assets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36A163-1C0C-43B2-86C9-3D1E72DD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9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13A"/>
                </a:solidFill>
              </a:defRPr>
            </a:pPr>
            <a:r>
              <a:rPr sz="13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89ECA6-BB2C-4E8A-9BA5-633A0243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3A"/>
                </a:solidFill>
              </a:defRPr>
            </a:pPr>
            <a:r>
              <a:rPr sz="1350" b="0">
                <a:solidFill>
                  <a:srgbClr val="13213A"/>
                </a:solidFill>
              </a:rPr>
              <a:t>Report maintenance issues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1BC663-39F5-4604-9766-903EB5C2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AssetFlow  |  Enterprise Asset Management SaaS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DEB4FE-5CEE-423B-8A09-3223966B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College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121547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AB50A8-2DEA-4BA1-A45A-995FBD9D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03 | PROJECT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3E92F-0E55-47BD-AA80-0B633CB8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Microservices keep the platform modular and tenant-aware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C7656-1FDF-42B2-91BF-E2634E89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08B"/>
                </a:solidFill>
              </a:defRPr>
            </a:pPr>
            <a:r>
              <a:rPr sz="1200" b="1">
                <a:solidFill>
                  <a:srgbClr val="61708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89E62-5562-40EB-84C5-7808565C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A3D86-85B8-42EB-BAC7-E9F0B022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051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6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5552B-0E58-4BFA-87CF-80DC6936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6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7C83F-995F-490B-B2DC-52B1F360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6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02EDB-984F-471F-B090-F2D7654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57150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6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9D483-96FB-4BC9-A7C7-371AD140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571500" cy="1666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6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C2274-8150-49A9-80B6-FCF4B959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6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B911C-3199-4849-9D88-3BAEFD89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9525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A8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ED135-8E37-41AC-9F9C-A1AB920C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F4700-DAD4-40E6-8B91-7B81A7FD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React 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997E8-918F-488E-89FA-A27DE677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8B8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F8CF3-3CFA-4F09-B1F3-BB4FB00A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2C9E7-1D25-4312-AA7D-014FCD41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1450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A7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D88BF-1A28-4444-80B0-E01AFDD7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Eureka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Discovery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80746-5063-4856-AC11-7DCB20A9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1524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77EA2-0062-4680-BB6D-A72D0B2B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Auth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6AA10-0921-42CE-B091-8DBCCE3D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1524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5BE26-3EED-4721-8767-B27EB106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146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Company 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80EE3-9C02-4BA6-93B0-5781D2AE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1524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E2A48E-93AF-4420-9E44-C8FC22AC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Asset 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D178F-0B29-480D-9699-94D17C13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524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57E49-39F8-4809-B2D3-2D92043F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146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Notification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89DB5-51BE-4C4F-B8D9-4F6C31A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1809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C6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FC14A-AAE0-40F3-A787-0E44227F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148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27F4FA-1CD2-4DF4-87EB-27818F41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B"/>
                </a:solidFill>
              </a:defRPr>
            </a:pPr>
            <a:r>
              <a:rPr sz="1350" b="0">
                <a:solidFill>
                  <a:srgbClr val="61708B"/>
                </a:solidFill>
              </a:rPr>
              <a:t>JWT authentication • company-scoped queries • REST APIs • MySQL persistence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73C448-3924-41C2-90EF-57BB8258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AssetFlow  |  Enterprise Asset Management SaaS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3C9021-1A84-4990-97D2-09D236FC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College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5600155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7EF11C-2644-45EE-BC6E-342EC1F6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04 | END-TO-END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B9F32-36C8-4213-ABDA-6C5681C4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The platform follows the asset through its complete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F77D4-A3E6-4791-AD32-71EE1D94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08B"/>
                </a:solidFill>
              </a:defRPr>
            </a:pPr>
            <a:r>
              <a:rPr sz="1200" b="1">
                <a:solidFill>
                  <a:srgbClr val="61708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30E5B-7324-4ECD-9E2E-8C02BEA9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3401C-FDF5-4297-8EFC-6D7E915E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6B638-7395-4BB2-94FF-32BD5727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63FF"/>
                </a:solidFill>
              </a:defRPr>
            </a:pPr>
            <a:r>
              <a:rPr sz="2100" b="1">
                <a:solidFill>
                  <a:srgbClr val="6D63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437E5-99DC-4668-89C5-4D3A09D0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3362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Company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8A350-3315-45B1-A6DA-33C73AAE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C0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04839-C14B-49AD-B3DA-ECEA4507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A4EA0-4199-4EA0-8A2E-874DC0E2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66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63FF"/>
                </a:solidFill>
              </a:defRPr>
            </a:pPr>
            <a:r>
              <a:rPr sz="2100" b="1">
                <a:solidFill>
                  <a:srgbClr val="6D63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C3114-AC4D-4CB7-BD09-34B4FECF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3362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Departments &amp; employees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49A5A-CEF5-48FE-87CD-EA7D8847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717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C0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49809-7752-4C0D-8A64-D41409CC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9515A-9B46-4765-837A-008A3E56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63FF"/>
                </a:solidFill>
              </a:defRPr>
            </a:pPr>
            <a:r>
              <a:rPr sz="2100" b="1">
                <a:solidFill>
                  <a:srgbClr val="6D63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1E448-A57F-427D-8DF0-98C925C1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3362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Vendors &amp; categories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9BA05-2412-4A05-AFDF-D65CC12B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C0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42265-E1DA-44FA-A632-ABEFDA9C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7DFC9-A027-4DE8-B3DC-1CF80B0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63FF"/>
                </a:solidFill>
              </a:defRPr>
            </a:pPr>
            <a:r>
              <a:rPr sz="2100" b="1">
                <a:solidFill>
                  <a:srgbClr val="6D63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DCE17-6934-4A65-B594-55356720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3362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Purchase &amp; register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D32DD-43D4-4138-9005-325D0FDD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48000"/>
            <a:ext cx="95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C0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78519-F3A7-47F8-97C2-11298426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D11567-BCC6-4EEF-9275-B5F05337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8F9B"/>
                </a:solidFill>
              </a:defRPr>
            </a:pPr>
            <a:r>
              <a:rPr sz="2100" b="1">
                <a:solidFill>
                  <a:srgbClr val="0C8F9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5EB92-B046-4762-8CFF-9888745D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4812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Allocate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A3A63-1EC8-4CBB-8748-BFD4F79E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862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C0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AC743-137D-4DBF-8F2F-9CDC85AC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C3A350-E5B0-4BB8-8F54-1E9F1BED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814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8F9B"/>
                </a:solidFill>
              </a:defRPr>
            </a:pPr>
            <a:r>
              <a:rPr sz="2100" b="1">
                <a:solidFill>
                  <a:srgbClr val="0C8F9B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11822B-9E0D-4870-8354-9C313426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4812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Request / maintain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EBED7F-CA6F-4746-960A-C374CEB8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862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C0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4C0B67-DDD8-4ACB-9A74-18E6B3AE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00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0BD5E9-B4E4-43E7-AA93-54E6D431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8F9B"/>
                </a:solidFill>
              </a:defRPr>
            </a:pPr>
            <a:r>
              <a:rPr sz="2100" b="1">
                <a:solidFill>
                  <a:srgbClr val="0C8F9B"/>
                </a:solidFill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128E20-E2C6-4547-9EC9-79058BE5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4812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Transfer / return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32E1DE-81D9-433C-B055-D58D96FD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C0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AB3ED3-AA8F-4CBC-A0E6-9E3886D8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1000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DC33A6-2DB3-432B-BA18-89E51C99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814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8F9B"/>
                </a:solidFill>
              </a:defRPr>
            </a:pPr>
            <a:r>
              <a:rPr sz="2100" b="1">
                <a:solidFill>
                  <a:srgbClr val="0C8F9B"/>
                </a:solidFill>
              </a:rPr>
              <a:t>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F68A7B-DF30-4572-8504-8E5CAADB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4812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Reports &amp; audit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2A2642-C881-4CAB-9D57-6480C446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B"/>
                </a:solidFill>
              </a:defRPr>
            </a:pPr>
            <a:r>
              <a:rPr sz="1500" b="0">
                <a:solidFill>
                  <a:srgbClr val="61708B"/>
                </a:solidFill>
              </a:rPr>
              <a:t>Each critical action produces an updated status, notification, and audit event.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F8973A-4774-4ABE-9FD2-5F8ABF01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AssetFlow  |  Enterprise Asset Management SaaS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C65259-498D-4FDA-88C3-126368E9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College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553793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84512B-F29C-496F-8892-14D097D8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05 | FRONTEND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841CF-D616-47C5-9072-2036BE6F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A form submission becomes a validated, secured business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39798-6ED4-4C48-B22B-225E9085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08B"/>
                </a:solidFill>
              </a:defRPr>
            </a:pPr>
            <a:r>
              <a:rPr sz="1200" b="1">
                <a:solidFill>
                  <a:srgbClr val="61708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B71FC-0FF9-4E6A-AD3C-193FAC5F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6B244-2B80-4E3E-AD37-FAC237FD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9875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63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81853-A03C-42ED-BADC-CF03FCED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9875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6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30926-7E82-4575-AD87-ADC3BA9D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47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6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BCEE9-A0EA-40B0-9CCC-454D6AC6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6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FC15D-0B59-4AC1-95B6-85E40BC4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38100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D6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9C52F-FBCA-4BD2-9ACF-90F44D68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ED827-CAEA-4901-9A6E-FFD77F64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Page component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D636C-046C-4EC4-9AE5-1FD4FCEC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38563-BF80-4FD7-8755-AA7E3A9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479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Validation</a:t>
            </a:r>
          </a:p>
          <a:p xmlns:a="http://schemas.openxmlformats.org/drawingml/2006/main">
            <a:pPr algn="ctr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&amp; form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E58DB-DB77-46A9-9925-87EF3CA7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06EC5-D8FC-42FF-A503-09331CD4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479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Axios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5AF6C-9451-4EBE-8CDF-1F20D4DA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07EEF-0A44-41AC-A5EA-703F225C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0A743-7D2D-411B-ACFD-A88469C8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C727E-96DE-421C-B671-C18A81C9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812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Spring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06087-088E-4A37-B25E-12FBA4CC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2379A-59CF-4BDC-A290-A8C4DA33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38D1B1-270A-4155-AA4A-EA1E9CE8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A"/>
                </a:solidFill>
              </a:defRPr>
            </a:pPr>
            <a:r>
              <a:rPr sz="1650" b="1">
                <a:solidFill>
                  <a:srgbClr val="13213A"/>
                </a:solidFill>
              </a:rPr>
              <a:t>Errors return as consistent messages; successful mutations refresh the live table and update the workspace.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9FEBE-CBC0-4DDD-BAF6-3E9CEA67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C8035B-4220-40F7-955E-CAD5BFE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959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Responsive React UI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5A320-DD12-498C-9201-DAEF63A7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293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2A9549-E01F-4F2B-8804-517ABA3C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959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8F9B"/>
                </a:solidFill>
              </a:defRPr>
            </a:pPr>
            <a:r>
              <a:rPr sz="1050" b="1">
                <a:solidFill>
                  <a:srgbClr val="0C8F9B"/>
                </a:solidFill>
              </a:rPr>
              <a:t>JWT on every protected request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4154E3-BE10-4FB4-AFB8-AB032AEB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AssetFlow  |  Enterprise Asset Management SaaS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D0898-B8CF-43B5-B654-745DBE41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College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19836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296C6-2879-4894-89D6-75E0A1DF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06 | MY ROLE AND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1AF84-5A9C-4306-9B2B-ABF269C3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Building the workflow meant connecting every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C23DD-CEEC-4D09-865C-5095723E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08B"/>
                </a:solidFill>
              </a:defRPr>
            </a:pPr>
            <a:r>
              <a:rPr sz="1200" b="1">
                <a:solidFill>
                  <a:srgbClr val="61708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4E390-1F94-4296-B0CF-227110E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9F3A1-D46A-47B9-9C06-8AE8D6A8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63FF"/>
                </a:solidFill>
              </a:defRPr>
            </a:pPr>
            <a:r>
              <a:rPr sz="1800" b="1">
                <a:solidFill>
                  <a:srgbClr val="6D63FF"/>
                </a:solidFill>
              </a:rPr>
              <a:t>Contribution areas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4A821-7891-4AA4-988B-871FC747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3A"/>
                </a:solidFill>
              </a:defRPr>
            </a:pPr>
            <a:r>
              <a:rPr sz="1575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E87FD-F667-444B-9D88-03196294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601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3A"/>
                </a:solidFill>
              </a:defRPr>
            </a:pPr>
            <a:r>
              <a:rPr sz="1575" b="0">
                <a:solidFill>
                  <a:srgbClr val="13213A"/>
                </a:solidFill>
              </a:rPr>
              <a:t>Designed the multi-tenant workflow around three roles.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DD101-A540-4896-B7BF-8A18E324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3A"/>
                </a:solidFill>
              </a:defRPr>
            </a:pPr>
            <a:r>
              <a:rPr sz="1575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2F895-FEAC-46C0-AB66-7FF2B6C9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601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3A"/>
                </a:solidFill>
              </a:defRPr>
            </a:pPr>
            <a:r>
              <a:rPr sz="1575" b="0">
                <a:solidFill>
                  <a:srgbClr val="13213A"/>
                </a:solidFill>
              </a:rPr>
              <a:t>Connected React pages to gateway-routed Spring Boot APIs.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42827-2B0C-4CF8-8D11-93106B7D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3A"/>
                </a:solidFill>
              </a:defRPr>
            </a:pPr>
            <a:r>
              <a:rPr sz="1575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013E7-DFF9-49D8-A1E6-7B98E9F9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601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3A"/>
                </a:solidFill>
              </a:defRPr>
            </a:pPr>
            <a:r>
              <a:rPr sz="1575" b="0">
                <a:solidFill>
                  <a:srgbClr val="13213A"/>
                </a:solidFill>
              </a:rPr>
              <a:t>Implemented and tested employee, asset, allocation, request, maintenance, transfer, and return 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0177A-01D8-4C98-A4D5-569A1EBE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3A"/>
                </a:solidFill>
              </a:defRPr>
            </a:pPr>
            <a:r>
              <a:rPr sz="1575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A27ED-4829-418B-AA4A-69A09CB2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601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3A"/>
                </a:solidFill>
              </a:defRPr>
            </a:pPr>
            <a:r>
              <a:rPr sz="1575" b="0">
                <a:solidFill>
                  <a:srgbClr val="13213A"/>
                </a:solidFill>
              </a:rPr>
              <a:t>Improved CRUD validation, lifecycle status updates, notifications, and audit recording.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1DA01-75ED-4E7F-BE12-0CFC8C70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3A"/>
                </a:solidFill>
              </a:defRPr>
            </a:pPr>
            <a:r>
              <a:rPr sz="1575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5E4E3-8040-4CF5-A914-582B6DD3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601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3A"/>
                </a:solidFill>
              </a:defRPr>
            </a:pPr>
            <a:r>
              <a:rPr sz="1575" b="0">
                <a:solidFill>
                  <a:srgbClr val="13213A"/>
                </a:solidFill>
              </a:rPr>
              <a:t>Verified the application through browser-based end-to-end tests.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16CC5-269E-4577-BF8D-D47547DE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2762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8C767-865C-487F-A2FD-566A35EE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B8C7"/>
                </a:solidFill>
              </a:defRPr>
            </a:pPr>
            <a:r>
              <a:rPr sz="1800" b="1">
                <a:solidFill>
                  <a:srgbClr val="28B8C7"/>
                </a:solidFill>
              </a:rPr>
              <a:t>Outcome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AF848-5FC6-42AF-9293-A4D43D0E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 working demonstration of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secure asset operations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from onboarding to return.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6C0A4-63F4-492B-867E-6BC587AD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00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B1FF"/>
                </a:solidFill>
              </a:defRPr>
            </a:pPr>
            <a:r>
              <a:rPr sz="1350" b="1">
                <a:solidFill>
                  <a:srgbClr val="A7B1FF"/>
                </a:solidFill>
              </a:rPr>
              <a:t>Collaboration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B44FD-D171-4611-A79A-A1D5353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053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0F2"/>
                </a:solidFill>
              </a:defRPr>
            </a:pPr>
            <a:r>
              <a:rPr sz="1275" b="0">
                <a:solidFill>
                  <a:srgbClr val="D8E0F2"/>
                </a:solidFill>
              </a:rPr>
              <a:t>Git-based development and iterative 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934FB-7726-4A21-B1DC-119EE091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AssetFlow  |  Enterprise Asset Management SaaS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B70C2-A0CB-4EA2-A599-9B2571C0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College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48144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BEDAAF-BF95-4535-A8AF-A8DAE1D4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07 | PROJECT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D8EFD-B33A-4193-8209-866A5C5E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Incremental delivery with a working vertical slice at every stage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F3E34-6B01-4B82-AF7B-4FF309B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08B"/>
                </a:solidFill>
              </a:defRPr>
            </a:pPr>
            <a:r>
              <a:rPr sz="1200" b="1">
                <a:solidFill>
                  <a:srgbClr val="61708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C046F-9CA5-4370-A2E2-FFA0AA3E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AF446-0F72-45B6-8D81-0CC72918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048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47D34-3E21-4981-A7AE-F7B6B6C3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63FF"/>
                </a:solidFill>
              </a:defRPr>
            </a:pPr>
            <a:r>
              <a:rPr sz="1200" b="1">
                <a:solidFill>
                  <a:srgbClr val="6D63FF"/>
                </a:solidFill>
              </a:rPr>
              <a:t>Phase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C56B2-46DE-4480-9304-05EEF456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3DAB6-FA0A-4D9B-97A6-F330075F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Architecture, schema, authentication, service 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EB51C-C68D-463D-9BE9-DC2EF63B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428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C0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582F2-E33E-4FE6-83CD-0E106A4E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048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F0483-BA57-41F8-A551-0C57A558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C8F9B"/>
                </a:solidFill>
              </a:defRPr>
            </a:pPr>
            <a:r>
              <a:rPr sz="1200" b="1">
                <a:solidFill>
                  <a:srgbClr val="0C8F9B"/>
                </a:solidFill>
              </a:rP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5BE98-96FE-40DD-994E-5D0C7059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81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Core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E7461-A1F3-4244-AE43-CEA53404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Company setup, departments, employees, vendors, categories, locations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3A93C-AE6E-4962-BC5C-511BFFC8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428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6C0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8D0A4-DAB1-49E3-8DB2-2BDF6988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048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4650A-F9E4-4AE9-B621-229D3445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63FF"/>
                </a:solidFill>
              </a:defRPr>
            </a:pPr>
            <a:r>
              <a:rPr sz="1200" b="1">
                <a:solidFill>
                  <a:srgbClr val="6D63FF"/>
                </a:solidFill>
              </a:rPr>
              <a:t>Phase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3D64C-F134-42C6-864A-901661AD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Lifecycle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BB459-8776-4432-885A-63E4BBA4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Assets, allocation, requests, maintenance, transfer, return,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1ED70-5C74-483D-93D3-32FF23B5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A"/>
                </a:solidFill>
              </a:defRPr>
            </a:pPr>
            <a:r>
              <a:rPr sz="1650" b="1">
                <a:solidFill>
                  <a:srgbClr val="13213A"/>
                </a:solidFill>
              </a:rPr>
              <a:t>Working style: plan → implement → run → inspect → fix → retest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54929-5D18-4A4C-B3CD-B8106B5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AssetFlow  |  Enterprise Asset Management SaaS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74DEB-B5D1-4B30-8B21-098F832D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College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5906572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56C4FB-34D0-49DB-9261-C4E1405E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08 | TESTING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E5777-A685-44BA-BB3C-D6CC064C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Validation covered code, services, APIs, and the browser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04860-217E-47F5-925F-60774219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08B"/>
                </a:solidFill>
              </a:defRPr>
            </a:pPr>
            <a:r>
              <a:rPr sz="1200" b="1">
                <a:solidFill>
                  <a:srgbClr val="61708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C77EF-D85C-47CA-9442-6DAF8391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90F0E-F2A8-4DD3-B612-5AFCCEE3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381250" cy="28575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56982-1173-42F4-BF15-3D54756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66900"/>
            <a:ext cx="2381250" cy="28575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DE5C4-007B-4A21-858D-EF9A4549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2381250" cy="28575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C95CF-B479-46D9-9DF3-A7BFA5F2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2381250" cy="28575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D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B0824-766F-4521-9896-DACF968C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D63FF"/>
                </a:solidFill>
              </a:defRPr>
            </a:pPr>
            <a:r>
              <a:rPr sz="2250" b="1">
                <a:solidFill>
                  <a:srgbClr val="6D63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5232E-D1DF-40BA-B4BB-E53E34FE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A"/>
                </a:solidFill>
              </a:defRPr>
            </a:pPr>
            <a:r>
              <a:rPr sz="1725" b="1">
                <a:solidFill>
                  <a:srgbClr val="13213A"/>
                </a:solidFill>
              </a:rPr>
              <a:t>Build &amp; lint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98E57-9272-46F8-A7F2-61C8F58D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Maven tests</a:t>
            </a:r>
          </a:p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Frontend build</a:t>
            </a:r>
          </a:p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ESLint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13DDA-EBDD-4CAF-8195-100AE579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8F9B"/>
                </a:solidFill>
              </a:defRPr>
            </a:pPr>
            <a:r>
              <a:rPr sz="2250" b="1">
                <a:solidFill>
                  <a:srgbClr val="0C8F9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73C07-47B9-48FA-A7DC-1E694A8F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A"/>
                </a:solidFill>
              </a:defRPr>
            </a:pPr>
            <a:r>
              <a:rPr sz="1725" b="1">
                <a:solidFill>
                  <a:srgbClr val="13213A"/>
                </a:solidFill>
              </a:rPr>
              <a:t>API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00D2D-CC6F-4521-B79D-0A94607C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Registration</a:t>
            </a:r>
          </a:p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CRUD</a:t>
            </a:r>
          </a:p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JWT &amp; tenant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5A80C-44D0-4F2E-A73B-56FCF34E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06A14"/>
                </a:solidFill>
              </a:defRPr>
            </a:pPr>
            <a:r>
              <a:rPr sz="2250" b="1">
                <a:solidFill>
                  <a:srgbClr val="D06A14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8D3FF-8AB0-4806-882B-839C7409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A"/>
                </a:solidFill>
              </a:defRPr>
            </a:pPr>
            <a:r>
              <a:rPr sz="1725" b="1">
                <a:solidFill>
                  <a:srgbClr val="13213A"/>
                </a:solidFill>
              </a:rPr>
              <a:t>Browser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6AB6F-89F7-46F9-8AD8-696A1B12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Login</a:t>
            </a:r>
          </a:p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Dashboard</a:t>
            </a:r>
          </a:p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Employee/admin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C0A6D-5559-457D-BFB7-2009693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463D8"/>
                </a:solidFill>
              </a:defRPr>
            </a:pPr>
            <a:r>
              <a:rPr sz="2250" b="1">
                <a:solidFill>
                  <a:srgbClr val="7463D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A702A-7345-4989-855D-60FD3195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A"/>
                </a:solidFill>
              </a:defRPr>
            </a:pPr>
            <a:r>
              <a:rPr sz="1725" b="1">
                <a:solidFill>
                  <a:srgbClr val="13213A"/>
                </a:solidFill>
              </a:rPr>
              <a:t>Lifecycle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AB8DD-E5C8-4C7E-93CC-44C09ADE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Allocate</a:t>
            </a:r>
          </a:p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Maintain</a:t>
            </a:r>
          </a:p>
          <a:p xmlns:a="http://schemas.openxmlformats.org/drawingml/2006/main">
            <a:pPr algn="l">
              <a:defRPr sz="1425" b="0">
                <a:solidFill>
                  <a:srgbClr val="61708B"/>
                </a:solidFill>
              </a:defRPr>
            </a:pPr>
            <a:r>
              <a:rPr sz="1425" b="0">
                <a:solidFill>
                  <a:srgbClr val="61708B"/>
                </a:solidFill>
              </a:rPr>
              <a:t>Transfer &amp; return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6104C-2924-48B5-AF69-559A81CD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952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8C576-95E5-4DF2-8CC1-E05C8FC6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9/9 Playwright business tests passed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73785-EA8D-45AD-902A-8F96CB96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10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B"/>
                </a:solidFill>
              </a:defRPr>
            </a:pPr>
            <a:r>
              <a:rPr sz="1350" b="0">
                <a:solidFill>
                  <a:srgbClr val="61708B"/>
                </a:solidFill>
              </a:rPr>
              <a:t>Services verified on 8761 and 8080–8084 during local validation.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B86CA0-491A-4B91-9B17-B6F4B892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AssetFlow  |  Enterprise Asset Management SaaS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D2A6F-0493-43EA-BC44-9FFC1946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College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7180771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B3039-A517-49F3-ADB4-814ECD93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09 | FUTURE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262DA-5F4F-4C79-864C-CA6EC7CF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The foundation is ready for deeper production hardening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DC1C1-12D4-4885-94F7-F50E2538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08B"/>
                </a:solidFill>
              </a:defRPr>
            </a:pPr>
            <a:r>
              <a:rPr sz="1200" b="1">
                <a:solidFill>
                  <a:srgbClr val="61708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73B6A-F423-4DA0-B2B9-FEB81F7C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81F55-4A5C-47B6-AF6E-7636DFB8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F2E72-3D78-4DD0-97D9-3744CC26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13A"/>
                </a:solidFill>
              </a:defRPr>
            </a:pPr>
            <a:r>
              <a:rPr sz="1950" b="0">
                <a:solidFill>
                  <a:srgbClr val="13213A"/>
                </a:solidFill>
              </a:rPr>
              <a:t>Production deployment with Docker/Kubernetes, monitoring, backups, and CI/CD.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182C6-ED35-4232-9F5F-26475394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C2EA1-BC83-419F-A2E6-C4740949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13A"/>
                </a:solidFill>
              </a:defRPr>
            </a:pPr>
            <a:r>
              <a:rPr sz="1950" b="0">
                <a:solidFill>
                  <a:srgbClr val="13213A"/>
                </a:solidFill>
              </a:rPr>
              <a:t>Advanced report exports and scheduled email notifications.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A820A-AC16-4E1E-BB7E-184D5C1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6EF4F-54BE-4037-8F66-0E28C3F4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13A"/>
                </a:solidFill>
              </a:defRPr>
            </a:pPr>
            <a:r>
              <a:rPr sz="1950" b="0">
                <a:solidFill>
                  <a:srgbClr val="13213A"/>
                </a:solidFill>
              </a:rPr>
              <a:t>Performance testing with large tenants and sustained concurrent load.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35294-7346-4095-8EDD-21F02AE9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52452-F862-4727-996B-DAB9EDDA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13A"/>
                </a:solidFill>
              </a:defRPr>
            </a:pPr>
            <a:r>
              <a:rPr sz="1950" b="0">
                <a:solidFill>
                  <a:srgbClr val="13213A"/>
                </a:solidFill>
              </a:rPr>
              <a:t>Gemini API key configuration for live company-aware responses.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67400-8F85-4E5F-8DF4-3BA19753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B9B91-2ECC-40A2-8262-6BDB58C9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830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3213A"/>
                </a:solidFill>
              </a:defRPr>
            </a:pPr>
            <a:r>
              <a:rPr sz="1950" b="0">
                <a:solidFill>
                  <a:srgbClr val="13213A"/>
                </a:solidFill>
              </a:rPr>
              <a:t>Fine-grained permissions and richer approval policies if product scope expands.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639AE-E29A-4CCC-9214-F192C69B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2286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21DC2-A4AA-4943-BAAB-0858A042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8F9B"/>
                </a:solidFill>
              </a:defRPr>
            </a:pPr>
            <a:r>
              <a:rPr sz="1050" b="1">
                <a:solidFill>
                  <a:srgbClr val="0C8F9B"/>
                </a:solidFill>
              </a:rPr>
              <a:t>Value: reliability at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F59C0-C06A-4EFC-9E24-FCDAC34B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292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2392D-A9FE-4943-8413-719C1198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959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06A14"/>
                </a:solidFill>
              </a:defRPr>
            </a:pPr>
            <a:r>
              <a:rPr sz="1050" b="1">
                <a:solidFill>
                  <a:srgbClr val="D06A14"/>
                </a:solidFill>
              </a:rPr>
              <a:t>Indicative effort: 1–3 weeks per extension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A8612-E09D-4381-905F-F4A9A4D2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AssetFlow  |  Enterprise Asset Management SaaS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90F56-2830-438B-A85C-3A9E8C5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College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567920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05E71-7602-42AD-A7DE-0E8AE9F9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63FF"/>
                </a:solidFill>
              </a:defRPr>
            </a:pPr>
            <a:r>
              <a:rPr sz="1050" b="1">
                <a:solidFill>
                  <a:srgbClr val="6D63FF"/>
                </a:solidFill>
              </a:rPr>
              <a:t>10 | EXPERIENCE AND LESSONS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35C3C-39DB-4B4D-BB7B-D27D95FE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The project turned integration problems into engineering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F59B7-4FA9-4A7F-9419-725C26E5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1708B"/>
                </a:solidFill>
              </a:defRPr>
            </a:pPr>
            <a:r>
              <a:rPr sz="1200" b="1">
                <a:solidFill>
                  <a:srgbClr val="61708B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635EE-F060-4CE1-BA54-CCDDC857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AE4ED-4BD2-4072-85BC-A461A12D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</a:defRPr>
            </a:pPr>
            <a:r>
              <a:rPr sz="2025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4D380-2E39-4805-A521-88E967E1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659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13A"/>
                </a:solidFill>
              </a:defRPr>
            </a:pPr>
            <a:r>
              <a:rPr sz="2025" b="0">
                <a:solidFill>
                  <a:srgbClr val="13213A"/>
                </a:solidFill>
              </a:rPr>
              <a:t>Complex systems require contracts between UI, API, service, and database layers.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379CF-F043-4FAD-A8DC-3CE6A5AB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</a:defRPr>
            </a:pPr>
            <a:r>
              <a:rPr sz="2025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37D1B-56A4-4B66-9D95-047A408A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659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13A"/>
                </a:solidFill>
              </a:defRPr>
            </a:pPr>
            <a:r>
              <a:rPr sz="2025" b="0">
                <a:solidFill>
                  <a:srgbClr val="13213A"/>
                </a:solidFill>
              </a:rPr>
              <a:t>Tenant isolation must be enforced in service queries—not only in the frontend.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8D4EF-1FAE-46E9-BB6E-4B639981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</a:defRPr>
            </a:pPr>
            <a:r>
              <a:rPr sz="2025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5775F-AF95-4061-B057-1FA906F6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659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13A"/>
                </a:solidFill>
              </a:defRPr>
            </a:pPr>
            <a:r>
              <a:rPr sz="2025" b="0">
                <a:solidFill>
                  <a:srgbClr val="13213A"/>
                </a:solidFill>
              </a:rPr>
              <a:t>Lifecycle actions are more useful when status, notification, and audit updates happen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A8953-DD02-440C-88F1-0315C811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</a:defRPr>
            </a:pPr>
            <a:r>
              <a:rPr sz="2025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E57D0-A1FE-4873-898D-5C17848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659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13A"/>
                </a:solidFill>
              </a:defRPr>
            </a:pPr>
            <a:r>
              <a:rPr sz="2025" b="0">
                <a:solidFill>
                  <a:srgbClr val="13213A"/>
                </a:solidFill>
              </a:rPr>
              <a:t>Automated browser tests expose workflow failures that compilation cannot detect.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AC4C9-7A4B-4862-856E-C1067DCF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</a:defRPr>
            </a:pPr>
            <a:r>
              <a:rPr sz="2025" b="1">
                <a:solidFill>
                  <a:srgbClr val="13213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4D893-3E36-4228-BD0D-9E297408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659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13A"/>
                </a:solidFill>
              </a:defRPr>
            </a:pPr>
            <a:r>
              <a:rPr sz="2025" b="0">
                <a:solidFill>
                  <a:srgbClr val="13213A"/>
                </a:solidFill>
              </a:rPr>
              <a:t>Git collaboration and debugging are part of building a real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0159A-D876-4357-AB43-84D42FA0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9527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12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2266D-E5EE-48C7-9A78-C5C1A66D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B8C7"/>
                </a:solidFill>
              </a:defRPr>
            </a:pPr>
            <a:r>
              <a:rPr sz="1800" b="1">
                <a:solidFill>
                  <a:srgbClr val="28B8C7"/>
                </a:solidFill>
              </a:rPr>
              <a:t>Takeaway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B0BD3-0587-4239-AE17-D35D447D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 complete product is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more than a collection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of pages: it is a chain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of reliable decisions.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0E341-0E9E-4181-8185-281EF574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AssetFlow  |  Enterprise Asset Management SaaS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C00E2-63CB-4630-99EE-3D51D3CD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8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1708B"/>
                </a:solidFill>
              </a:defRPr>
            </a:pPr>
            <a:r>
              <a:rPr sz="900" b="0">
                <a:solidFill>
                  <a:srgbClr val="61708B"/>
                </a:solidFill>
              </a:rPr>
              <a:t>College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88803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F1706-EFAC-4045-8E42-34D8D6DD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AE460-8D53-4226-A70B-BDFDFA24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B1FF"/>
                </a:solidFill>
              </a:defRPr>
            </a:pPr>
            <a:r>
              <a:rPr sz="2250" b="1">
                <a:solidFill>
                  <a:srgbClr val="A7B1FF"/>
                </a:solidFill>
              </a:rPr>
              <a:t>AssetFlow makes every asset accountable.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E360C-A04F-42E1-B6CA-124536DE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0F2"/>
                </a:solidFill>
              </a:defRPr>
            </a:pPr>
            <a:r>
              <a:rPr sz="1800" b="0">
                <a:solidFill>
                  <a:srgbClr val="D8E0F2"/>
                </a:solidFill>
              </a:rPr>
              <a:t>Questions and 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B298E-88DC-44C2-A046-C7C08D38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476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51F38"/>
          </a:solidFill>
          <a:ln xmlns:a="http://schemas.openxmlformats.org/drawingml/2006/main" w="9525">
            <a:solidFill>
              <a:srgbClr val="2B3A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95DEE-E1D2-4B17-A678-E6B92099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AssetFlow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93F02-4AF2-43C5-B741-0A6DF3A7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E8"/>
                </a:solidFill>
              </a:defRPr>
            </a:pPr>
            <a:r>
              <a:rPr sz="1575" b="0">
                <a:solidFill>
                  <a:srgbClr val="C9D2E8"/>
                </a:solidFill>
              </a:rPr>
              <a:t>Enterprise Asset</a:t>
            </a:r>
          </a:p>
          <a:p xmlns:a="http://schemas.openxmlformats.org/drawingml/2006/main">
            <a:pPr algn="l">
              <a:defRPr sz="1575" b="0">
                <a:solidFill>
                  <a:srgbClr val="C9D2E8"/>
                </a:solidFill>
              </a:defRPr>
            </a:pPr>
            <a:r>
              <a:rPr sz="1575" b="0">
                <a:solidFill>
                  <a:srgbClr val="C9D2E8"/>
                </a:solidFill>
              </a:rPr>
              <a:t>Management SaaS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29BA0-2F94-443A-BB40-55BABE08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B8C7"/>
                </a:solidFill>
              </a:defRPr>
            </a:pPr>
            <a:r>
              <a:rPr sz="1050" b="1">
                <a:solidFill>
                  <a:srgbClr val="28B8C7"/>
                </a:solidFill>
              </a:rPr>
              <a:t>React • Spring Boot • MySQL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85DF5-0A21-42B8-8636-F69B8E6A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B1FF"/>
                </a:solidFill>
              </a:defRPr>
            </a:pPr>
            <a:r>
              <a:rPr sz="1200" b="1">
                <a:solidFill>
                  <a:srgbClr val="A7B1FF"/>
                </a:solidFill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98063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2026-08-05T17:28:03.9920000Z</dcterms:created>
  <dcterms:modified xsi:type="dcterms:W3CDTF">2026-08-05T17:28:03.9920000Z</dcterms:modified>
</coreProperties>
</file>